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4" r:id="rId4"/>
    <p:sldId id="261" r:id="rId5"/>
    <p:sldId id="263" r:id="rId6"/>
    <p:sldId id="260" r:id="rId7"/>
    <p:sldId id="257" r:id="rId8"/>
    <p:sldId id="259" r:id="rId9"/>
    <p:sldId id="25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CC0C8-1D92-F63A-5B4D-346719F8E3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D7D014A-19D3-824A-B197-42FE06D15B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E00701-F7B0-E4F4-123D-97F94EAD7BEC}"/>
              </a:ext>
            </a:extLst>
          </p:cNvPr>
          <p:cNvSpPr>
            <a:spLocks noGrp="1"/>
          </p:cNvSpPr>
          <p:nvPr>
            <p:ph type="dt" sz="half" idx="10"/>
          </p:nvPr>
        </p:nvSpPr>
        <p:spPr/>
        <p:txBody>
          <a:bodyPr/>
          <a:lstStyle/>
          <a:p>
            <a:fld id="{8E66BC1A-0F26-4BBB-B346-C94863B47F5E}" type="datetimeFigureOut">
              <a:rPr lang="en-IN" smtClean="0"/>
              <a:t>05-10-2026</a:t>
            </a:fld>
            <a:endParaRPr lang="en-IN"/>
          </a:p>
        </p:txBody>
      </p:sp>
      <p:sp>
        <p:nvSpPr>
          <p:cNvPr id="5" name="Footer Placeholder 4">
            <a:extLst>
              <a:ext uri="{FF2B5EF4-FFF2-40B4-BE49-F238E27FC236}">
                <a16:creationId xmlns:a16="http://schemas.microsoft.com/office/drawing/2014/main" id="{13F20465-59DA-49A5-82CB-13BABA4829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6F585A-22DE-9E7D-9AC7-592B1D02A9AD}"/>
              </a:ext>
            </a:extLst>
          </p:cNvPr>
          <p:cNvSpPr>
            <a:spLocks noGrp="1"/>
          </p:cNvSpPr>
          <p:nvPr>
            <p:ph type="sldNum" sz="quarter" idx="12"/>
          </p:nvPr>
        </p:nvSpPr>
        <p:spPr/>
        <p:txBody>
          <a:bodyPr/>
          <a:lstStyle/>
          <a:p>
            <a:fld id="{B1EDEFC8-21A4-4DF0-8896-622F51C78563}" type="slidenum">
              <a:rPr lang="en-IN" smtClean="0"/>
              <a:t>‹#›</a:t>
            </a:fld>
            <a:endParaRPr lang="en-IN"/>
          </a:p>
        </p:txBody>
      </p:sp>
    </p:spTree>
    <p:extLst>
      <p:ext uri="{BB962C8B-B14F-4D97-AF65-F5344CB8AC3E}">
        <p14:creationId xmlns:p14="http://schemas.microsoft.com/office/powerpoint/2010/main" val="618591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0A3D-7010-DC48-D392-EB4568D1A9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8B95F0-D74A-74CB-69A2-0A0849E1F7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851EE4-D318-6D4C-B57D-8CEF4591AC58}"/>
              </a:ext>
            </a:extLst>
          </p:cNvPr>
          <p:cNvSpPr>
            <a:spLocks noGrp="1"/>
          </p:cNvSpPr>
          <p:nvPr>
            <p:ph type="dt" sz="half" idx="10"/>
          </p:nvPr>
        </p:nvSpPr>
        <p:spPr/>
        <p:txBody>
          <a:bodyPr/>
          <a:lstStyle/>
          <a:p>
            <a:fld id="{8E66BC1A-0F26-4BBB-B346-C94863B47F5E}" type="datetimeFigureOut">
              <a:rPr lang="en-IN" smtClean="0"/>
              <a:t>05-10-2026</a:t>
            </a:fld>
            <a:endParaRPr lang="en-IN"/>
          </a:p>
        </p:txBody>
      </p:sp>
      <p:sp>
        <p:nvSpPr>
          <p:cNvPr id="5" name="Footer Placeholder 4">
            <a:extLst>
              <a:ext uri="{FF2B5EF4-FFF2-40B4-BE49-F238E27FC236}">
                <a16:creationId xmlns:a16="http://schemas.microsoft.com/office/drawing/2014/main" id="{0C01F97A-81DE-D559-A5F0-9655599755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86B3FB-69B3-A2C0-638F-85E2457296F7}"/>
              </a:ext>
            </a:extLst>
          </p:cNvPr>
          <p:cNvSpPr>
            <a:spLocks noGrp="1"/>
          </p:cNvSpPr>
          <p:nvPr>
            <p:ph type="sldNum" sz="quarter" idx="12"/>
          </p:nvPr>
        </p:nvSpPr>
        <p:spPr/>
        <p:txBody>
          <a:bodyPr/>
          <a:lstStyle/>
          <a:p>
            <a:fld id="{B1EDEFC8-21A4-4DF0-8896-622F51C78563}" type="slidenum">
              <a:rPr lang="en-IN" smtClean="0"/>
              <a:t>‹#›</a:t>
            </a:fld>
            <a:endParaRPr lang="en-IN"/>
          </a:p>
        </p:txBody>
      </p:sp>
    </p:spTree>
    <p:extLst>
      <p:ext uri="{BB962C8B-B14F-4D97-AF65-F5344CB8AC3E}">
        <p14:creationId xmlns:p14="http://schemas.microsoft.com/office/powerpoint/2010/main" val="2051621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9ED0-8343-82ED-FDF5-FC0003AE8D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CE7613B-4503-BC6D-E1EC-EFC427A98C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FF3685-058E-85B5-D70A-7E093EB742E5}"/>
              </a:ext>
            </a:extLst>
          </p:cNvPr>
          <p:cNvSpPr>
            <a:spLocks noGrp="1"/>
          </p:cNvSpPr>
          <p:nvPr>
            <p:ph type="dt" sz="half" idx="10"/>
          </p:nvPr>
        </p:nvSpPr>
        <p:spPr/>
        <p:txBody>
          <a:bodyPr/>
          <a:lstStyle/>
          <a:p>
            <a:fld id="{8E66BC1A-0F26-4BBB-B346-C94863B47F5E}" type="datetimeFigureOut">
              <a:rPr lang="en-IN" smtClean="0"/>
              <a:t>05-10-2026</a:t>
            </a:fld>
            <a:endParaRPr lang="en-IN"/>
          </a:p>
        </p:txBody>
      </p:sp>
      <p:sp>
        <p:nvSpPr>
          <p:cNvPr id="5" name="Footer Placeholder 4">
            <a:extLst>
              <a:ext uri="{FF2B5EF4-FFF2-40B4-BE49-F238E27FC236}">
                <a16:creationId xmlns:a16="http://schemas.microsoft.com/office/drawing/2014/main" id="{A2F4CF1E-D760-C7AF-4EF5-1959207FD1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575C28-8D52-5590-B273-3CC04D959EFE}"/>
              </a:ext>
            </a:extLst>
          </p:cNvPr>
          <p:cNvSpPr>
            <a:spLocks noGrp="1"/>
          </p:cNvSpPr>
          <p:nvPr>
            <p:ph type="sldNum" sz="quarter" idx="12"/>
          </p:nvPr>
        </p:nvSpPr>
        <p:spPr/>
        <p:txBody>
          <a:bodyPr/>
          <a:lstStyle/>
          <a:p>
            <a:fld id="{B1EDEFC8-21A4-4DF0-8896-622F51C78563}" type="slidenum">
              <a:rPr lang="en-IN" smtClean="0"/>
              <a:t>‹#›</a:t>
            </a:fld>
            <a:endParaRPr lang="en-IN"/>
          </a:p>
        </p:txBody>
      </p:sp>
    </p:spTree>
    <p:extLst>
      <p:ext uri="{BB962C8B-B14F-4D97-AF65-F5344CB8AC3E}">
        <p14:creationId xmlns:p14="http://schemas.microsoft.com/office/powerpoint/2010/main" val="44092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7804-418F-E835-89E1-3453550F42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4379CA-2F3B-D3B5-F00E-E9EAE82384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0B64F8A-0135-C4AE-1267-EA9A9B2037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C0007C-9C8D-EC40-3D58-1D8DADFF46D9}"/>
              </a:ext>
            </a:extLst>
          </p:cNvPr>
          <p:cNvSpPr>
            <a:spLocks noGrp="1"/>
          </p:cNvSpPr>
          <p:nvPr>
            <p:ph type="dt" sz="half" idx="10"/>
          </p:nvPr>
        </p:nvSpPr>
        <p:spPr/>
        <p:txBody>
          <a:bodyPr/>
          <a:lstStyle/>
          <a:p>
            <a:fld id="{8E66BC1A-0F26-4BBB-B346-C94863B47F5E}" type="datetimeFigureOut">
              <a:rPr lang="en-IN" smtClean="0"/>
              <a:t>05-10-2026</a:t>
            </a:fld>
            <a:endParaRPr lang="en-IN"/>
          </a:p>
        </p:txBody>
      </p:sp>
      <p:sp>
        <p:nvSpPr>
          <p:cNvPr id="6" name="Footer Placeholder 5">
            <a:extLst>
              <a:ext uri="{FF2B5EF4-FFF2-40B4-BE49-F238E27FC236}">
                <a16:creationId xmlns:a16="http://schemas.microsoft.com/office/drawing/2014/main" id="{54B9C83E-D4B7-DDAB-A369-47ADC800A5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1CFA94-DFA1-E9D2-F282-3CB9C3D45D8B}"/>
              </a:ext>
            </a:extLst>
          </p:cNvPr>
          <p:cNvSpPr>
            <a:spLocks noGrp="1"/>
          </p:cNvSpPr>
          <p:nvPr>
            <p:ph type="sldNum" sz="quarter" idx="12"/>
          </p:nvPr>
        </p:nvSpPr>
        <p:spPr/>
        <p:txBody>
          <a:bodyPr/>
          <a:lstStyle/>
          <a:p>
            <a:fld id="{B1EDEFC8-21A4-4DF0-8896-622F51C78563}" type="slidenum">
              <a:rPr lang="en-IN" smtClean="0"/>
              <a:t>‹#›</a:t>
            </a:fld>
            <a:endParaRPr lang="en-IN"/>
          </a:p>
        </p:txBody>
      </p:sp>
    </p:spTree>
    <p:extLst>
      <p:ext uri="{BB962C8B-B14F-4D97-AF65-F5344CB8AC3E}">
        <p14:creationId xmlns:p14="http://schemas.microsoft.com/office/powerpoint/2010/main" val="2945555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A06AA-73F5-1593-98FE-DB460D1DA1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9EF690-43C0-2D07-842C-BE8D0506CE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A8EDC4-2A54-9C98-C9A4-6975512E11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3129A79-F2DF-7DAD-5316-A47F1602C1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5D7951-8605-BDE6-C385-5C2AD3D89D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40A5C77-A3AD-6B6E-39CD-BA8EC3520072}"/>
              </a:ext>
            </a:extLst>
          </p:cNvPr>
          <p:cNvSpPr>
            <a:spLocks noGrp="1"/>
          </p:cNvSpPr>
          <p:nvPr>
            <p:ph type="dt" sz="half" idx="10"/>
          </p:nvPr>
        </p:nvSpPr>
        <p:spPr/>
        <p:txBody>
          <a:bodyPr/>
          <a:lstStyle/>
          <a:p>
            <a:fld id="{8E66BC1A-0F26-4BBB-B346-C94863B47F5E}" type="datetimeFigureOut">
              <a:rPr lang="en-IN" smtClean="0"/>
              <a:t>05-10-2026</a:t>
            </a:fld>
            <a:endParaRPr lang="en-IN"/>
          </a:p>
        </p:txBody>
      </p:sp>
      <p:sp>
        <p:nvSpPr>
          <p:cNvPr id="8" name="Footer Placeholder 7">
            <a:extLst>
              <a:ext uri="{FF2B5EF4-FFF2-40B4-BE49-F238E27FC236}">
                <a16:creationId xmlns:a16="http://schemas.microsoft.com/office/drawing/2014/main" id="{B9FF4061-4C49-F963-6DAB-F222549102F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8F55597-970A-021C-0168-D8E18865066B}"/>
              </a:ext>
            </a:extLst>
          </p:cNvPr>
          <p:cNvSpPr>
            <a:spLocks noGrp="1"/>
          </p:cNvSpPr>
          <p:nvPr>
            <p:ph type="sldNum" sz="quarter" idx="12"/>
          </p:nvPr>
        </p:nvSpPr>
        <p:spPr/>
        <p:txBody>
          <a:bodyPr/>
          <a:lstStyle/>
          <a:p>
            <a:fld id="{B1EDEFC8-21A4-4DF0-8896-622F51C78563}" type="slidenum">
              <a:rPr lang="en-IN" smtClean="0"/>
              <a:t>‹#›</a:t>
            </a:fld>
            <a:endParaRPr lang="en-IN"/>
          </a:p>
        </p:txBody>
      </p:sp>
    </p:spTree>
    <p:extLst>
      <p:ext uri="{BB962C8B-B14F-4D97-AF65-F5344CB8AC3E}">
        <p14:creationId xmlns:p14="http://schemas.microsoft.com/office/powerpoint/2010/main" val="3597123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47D3B-AFDA-BE20-FC84-18285E811BD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65F00-1955-D745-4621-E2C7A0173888}"/>
              </a:ext>
            </a:extLst>
          </p:cNvPr>
          <p:cNvSpPr>
            <a:spLocks noGrp="1"/>
          </p:cNvSpPr>
          <p:nvPr>
            <p:ph type="dt" sz="half" idx="10"/>
          </p:nvPr>
        </p:nvSpPr>
        <p:spPr/>
        <p:txBody>
          <a:bodyPr/>
          <a:lstStyle/>
          <a:p>
            <a:fld id="{8E66BC1A-0F26-4BBB-B346-C94863B47F5E}" type="datetimeFigureOut">
              <a:rPr lang="en-IN" smtClean="0"/>
              <a:t>05-10-2026</a:t>
            </a:fld>
            <a:endParaRPr lang="en-IN"/>
          </a:p>
        </p:txBody>
      </p:sp>
      <p:sp>
        <p:nvSpPr>
          <p:cNvPr id="4" name="Footer Placeholder 3">
            <a:extLst>
              <a:ext uri="{FF2B5EF4-FFF2-40B4-BE49-F238E27FC236}">
                <a16:creationId xmlns:a16="http://schemas.microsoft.com/office/drawing/2014/main" id="{3CED3076-DCF4-25FD-8E9B-D704EFE5AAA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F9C52E5-7797-BBAD-59B2-65164172196C}"/>
              </a:ext>
            </a:extLst>
          </p:cNvPr>
          <p:cNvSpPr>
            <a:spLocks noGrp="1"/>
          </p:cNvSpPr>
          <p:nvPr>
            <p:ph type="sldNum" sz="quarter" idx="12"/>
          </p:nvPr>
        </p:nvSpPr>
        <p:spPr/>
        <p:txBody>
          <a:bodyPr/>
          <a:lstStyle/>
          <a:p>
            <a:fld id="{B1EDEFC8-21A4-4DF0-8896-622F51C78563}" type="slidenum">
              <a:rPr lang="en-IN" smtClean="0"/>
              <a:t>‹#›</a:t>
            </a:fld>
            <a:endParaRPr lang="en-IN"/>
          </a:p>
        </p:txBody>
      </p:sp>
    </p:spTree>
    <p:extLst>
      <p:ext uri="{BB962C8B-B14F-4D97-AF65-F5344CB8AC3E}">
        <p14:creationId xmlns:p14="http://schemas.microsoft.com/office/powerpoint/2010/main" val="1490399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E9D614-6AAC-FDC4-BFEF-37A38BBDABD0}"/>
              </a:ext>
            </a:extLst>
          </p:cNvPr>
          <p:cNvSpPr>
            <a:spLocks noGrp="1"/>
          </p:cNvSpPr>
          <p:nvPr>
            <p:ph type="dt" sz="half" idx="10"/>
          </p:nvPr>
        </p:nvSpPr>
        <p:spPr/>
        <p:txBody>
          <a:bodyPr/>
          <a:lstStyle/>
          <a:p>
            <a:fld id="{8E66BC1A-0F26-4BBB-B346-C94863B47F5E}" type="datetimeFigureOut">
              <a:rPr lang="en-IN" smtClean="0"/>
              <a:t>05-10-2026</a:t>
            </a:fld>
            <a:endParaRPr lang="en-IN"/>
          </a:p>
        </p:txBody>
      </p:sp>
      <p:sp>
        <p:nvSpPr>
          <p:cNvPr id="3" name="Footer Placeholder 2">
            <a:extLst>
              <a:ext uri="{FF2B5EF4-FFF2-40B4-BE49-F238E27FC236}">
                <a16:creationId xmlns:a16="http://schemas.microsoft.com/office/drawing/2014/main" id="{8246F489-B2F7-6C8A-5345-BDA99AC02E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E02D14-0753-CC1A-9B7E-C042CFFD50EC}"/>
              </a:ext>
            </a:extLst>
          </p:cNvPr>
          <p:cNvSpPr>
            <a:spLocks noGrp="1"/>
          </p:cNvSpPr>
          <p:nvPr>
            <p:ph type="sldNum" sz="quarter" idx="12"/>
          </p:nvPr>
        </p:nvSpPr>
        <p:spPr/>
        <p:txBody>
          <a:bodyPr/>
          <a:lstStyle/>
          <a:p>
            <a:fld id="{B1EDEFC8-21A4-4DF0-8896-622F51C78563}" type="slidenum">
              <a:rPr lang="en-IN" smtClean="0"/>
              <a:t>‹#›</a:t>
            </a:fld>
            <a:endParaRPr lang="en-IN"/>
          </a:p>
        </p:txBody>
      </p:sp>
    </p:spTree>
    <p:extLst>
      <p:ext uri="{BB962C8B-B14F-4D97-AF65-F5344CB8AC3E}">
        <p14:creationId xmlns:p14="http://schemas.microsoft.com/office/powerpoint/2010/main" val="832347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18E45-3B70-808E-FDCD-45D888C5E0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4E2BF8-4D2D-16AC-04F3-CF4F43970A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3A5241D-9198-6000-0104-996F49603E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257404-F2BD-CDF6-45A1-D45CAA98299B}"/>
              </a:ext>
            </a:extLst>
          </p:cNvPr>
          <p:cNvSpPr>
            <a:spLocks noGrp="1"/>
          </p:cNvSpPr>
          <p:nvPr>
            <p:ph type="dt" sz="half" idx="10"/>
          </p:nvPr>
        </p:nvSpPr>
        <p:spPr/>
        <p:txBody>
          <a:bodyPr/>
          <a:lstStyle/>
          <a:p>
            <a:fld id="{8E66BC1A-0F26-4BBB-B346-C94863B47F5E}" type="datetimeFigureOut">
              <a:rPr lang="en-IN" smtClean="0"/>
              <a:t>05-10-2026</a:t>
            </a:fld>
            <a:endParaRPr lang="en-IN"/>
          </a:p>
        </p:txBody>
      </p:sp>
      <p:sp>
        <p:nvSpPr>
          <p:cNvPr id="6" name="Footer Placeholder 5">
            <a:extLst>
              <a:ext uri="{FF2B5EF4-FFF2-40B4-BE49-F238E27FC236}">
                <a16:creationId xmlns:a16="http://schemas.microsoft.com/office/drawing/2014/main" id="{0070CDE1-59E9-42FE-7E02-336239034D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F8875C-51E4-9057-725F-CD9B891EB087}"/>
              </a:ext>
            </a:extLst>
          </p:cNvPr>
          <p:cNvSpPr>
            <a:spLocks noGrp="1"/>
          </p:cNvSpPr>
          <p:nvPr>
            <p:ph type="sldNum" sz="quarter" idx="12"/>
          </p:nvPr>
        </p:nvSpPr>
        <p:spPr/>
        <p:txBody>
          <a:bodyPr/>
          <a:lstStyle/>
          <a:p>
            <a:fld id="{B1EDEFC8-21A4-4DF0-8896-622F51C78563}" type="slidenum">
              <a:rPr lang="en-IN" smtClean="0"/>
              <a:t>‹#›</a:t>
            </a:fld>
            <a:endParaRPr lang="en-IN"/>
          </a:p>
        </p:txBody>
      </p:sp>
    </p:spTree>
    <p:extLst>
      <p:ext uri="{BB962C8B-B14F-4D97-AF65-F5344CB8AC3E}">
        <p14:creationId xmlns:p14="http://schemas.microsoft.com/office/powerpoint/2010/main" val="1769987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8C517-7C4D-77C5-3C43-B720A1D9A6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0D0039F-2070-62F0-672C-BACFEA44A1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8D7DF47-DD78-A95F-6D23-A066355B26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B0FA2C-CA56-5DE8-2D57-4A80BA99A018}"/>
              </a:ext>
            </a:extLst>
          </p:cNvPr>
          <p:cNvSpPr>
            <a:spLocks noGrp="1"/>
          </p:cNvSpPr>
          <p:nvPr>
            <p:ph type="dt" sz="half" idx="10"/>
          </p:nvPr>
        </p:nvSpPr>
        <p:spPr/>
        <p:txBody>
          <a:bodyPr/>
          <a:lstStyle/>
          <a:p>
            <a:fld id="{8E66BC1A-0F26-4BBB-B346-C94863B47F5E}" type="datetimeFigureOut">
              <a:rPr lang="en-IN" smtClean="0"/>
              <a:t>05-10-2026</a:t>
            </a:fld>
            <a:endParaRPr lang="en-IN"/>
          </a:p>
        </p:txBody>
      </p:sp>
      <p:sp>
        <p:nvSpPr>
          <p:cNvPr id="6" name="Footer Placeholder 5">
            <a:extLst>
              <a:ext uri="{FF2B5EF4-FFF2-40B4-BE49-F238E27FC236}">
                <a16:creationId xmlns:a16="http://schemas.microsoft.com/office/drawing/2014/main" id="{33371853-2717-DAB9-8A15-D3EC199D73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0577B81-A356-0492-84F2-B07FA2531821}"/>
              </a:ext>
            </a:extLst>
          </p:cNvPr>
          <p:cNvSpPr>
            <a:spLocks noGrp="1"/>
          </p:cNvSpPr>
          <p:nvPr>
            <p:ph type="sldNum" sz="quarter" idx="12"/>
          </p:nvPr>
        </p:nvSpPr>
        <p:spPr/>
        <p:txBody>
          <a:bodyPr/>
          <a:lstStyle/>
          <a:p>
            <a:fld id="{B1EDEFC8-21A4-4DF0-8896-622F51C78563}" type="slidenum">
              <a:rPr lang="en-IN" smtClean="0"/>
              <a:t>‹#›</a:t>
            </a:fld>
            <a:endParaRPr lang="en-IN"/>
          </a:p>
        </p:txBody>
      </p:sp>
    </p:spTree>
    <p:extLst>
      <p:ext uri="{BB962C8B-B14F-4D97-AF65-F5344CB8AC3E}">
        <p14:creationId xmlns:p14="http://schemas.microsoft.com/office/powerpoint/2010/main" val="4009869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81EA-E5C3-C029-9BE8-7FC526037A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76BB41-8A69-F1B0-2B25-7B97656B15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6F5108-5E44-65DF-7C4F-B8D0E6FFD437}"/>
              </a:ext>
            </a:extLst>
          </p:cNvPr>
          <p:cNvSpPr>
            <a:spLocks noGrp="1"/>
          </p:cNvSpPr>
          <p:nvPr>
            <p:ph type="dt" sz="half" idx="10"/>
          </p:nvPr>
        </p:nvSpPr>
        <p:spPr/>
        <p:txBody>
          <a:bodyPr/>
          <a:lstStyle/>
          <a:p>
            <a:fld id="{8E66BC1A-0F26-4BBB-B346-C94863B47F5E}" type="datetimeFigureOut">
              <a:rPr lang="en-IN" smtClean="0"/>
              <a:t>05-10-2026</a:t>
            </a:fld>
            <a:endParaRPr lang="en-IN"/>
          </a:p>
        </p:txBody>
      </p:sp>
      <p:sp>
        <p:nvSpPr>
          <p:cNvPr id="5" name="Footer Placeholder 4">
            <a:extLst>
              <a:ext uri="{FF2B5EF4-FFF2-40B4-BE49-F238E27FC236}">
                <a16:creationId xmlns:a16="http://schemas.microsoft.com/office/drawing/2014/main" id="{5DDCDC06-5024-1821-84FA-5D38AC6B61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7774CE-1811-DB2C-FB4A-A9B7214E7F8C}"/>
              </a:ext>
            </a:extLst>
          </p:cNvPr>
          <p:cNvSpPr>
            <a:spLocks noGrp="1"/>
          </p:cNvSpPr>
          <p:nvPr>
            <p:ph type="sldNum" sz="quarter" idx="12"/>
          </p:nvPr>
        </p:nvSpPr>
        <p:spPr/>
        <p:txBody>
          <a:bodyPr/>
          <a:lstStyle/>
          <a:p>
            <a:fld id="{B1EDEFC8-21A4-4DF0-8896-622F51C78563}" type="slidenum">
              <a:rPr lang="en-IN" smtClean="0"/>
              <a:t>‹#›</a:t>
            </a:fld>
            <a:endParaRPr lang="en-IN"/>
          </a:p>
        </p:txBody>
      </p:sp>
    </p:spTree>
    <p:extLst>
      <p:ext uri="{BB962C8B-B14F-4D97-AF65-F5344CB8AC3E}">
        <p14:creationId xmlns:p14="http://schemas.microsoft.com/office/powerpoint/2010/main" val="2170533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656AC8-C96F-3ED9-B1EE-D01C674678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54D866-0D35-6D5E-A9F8-0430A66E38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A8486E-DBE3-472E-EA0F-31B3669401A7}"/>
              </a:ext>
            </a:extLst>
          </p:cNvPr>
          <p:cNvSpPr>
            <a:spLocks noGrp="1"/>
          </p:cNvSpPr>
          <p:nvPr>
            <p:ph type="dt" sz="half" idx="10"/>
          </p:nvPr>
        </p:nvSpPr>
        <p:spPr/>
        <p:txBody>
          <a:bodyPr/>
          <a:lstStyle/>
          <a:p>
            <a:fld id="{8E66BC1A-0F26-4BBB-B346-C94863B47F5E}" type="datetimeFigureOut">
              <a:rPr lang="en-IN" smtClean="0"/>
              <a:t>05-10-2026</a:t>
            </a:fld>
            <a:endParaRPr lang="en-IN"/>
          </a:p>
        </p:txBody>
      </p:sp>
      <p:sp>
        <p:nvSpPr>
          <p:cNvPr id="5" name="Footer Placeholder 4">
            <a:extLst>
              <a:ext uri="{FF2B5EF4-FFF2-40B4-BE49-F238E27FC236}">
                <a16:creationId xmlns:a16="http://schemas.microsoft.com/office/drawing/2014/main" id="{E56DB423-DED7-6D91-24B3-A0BD843E6A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8D1B5A-4FEF-76DD-33C6-82FE054B5D17}"/>
              </a:ext>
            </a:extLst>
          </p:cNvPr>
          <p:cNvSpPr>
            <a:spLocks noGrp="1"/>
          </p:cNvSpPr>
          <p:nvPr>
            <p:ph type="sldNum" sz="quarter" idx="12"/>
          </p:nvPr>
        </p:nvSpPr>
        <p:spPr/>
        <p:txBody>
          <a:bodyPr/>
          <a:lstStyle/>
          <a:p>
            <a:fld id="{B1EDEFC8-21A4-4DF0-8896-622F51C78563}" type="slidenum">
              <a:rPr lang="en-IN" smtClean="0"/>
              <a:t>‹#›</a:t>
            </a:fld>
            <a:endParaRPr lang="en-IN"/>
          </a:p>
        </p:txBody>
      </p:sp>
    </p:spTree>
    <p:extLst>
      <p:ext uri="{BB962C8B-B14F-4D97-AF65-F5344CB8AC3E}">
        <p14:creationId xmlns:p14="http://schemas.microsoft.com/office/powerpoint/2010/main" val="1546112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5D6DED-F81A-5A58-2DE7-BC4E740D49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BD08ED-C0DA-E4B1-ABC1-B8C8ED0C8E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ECACB5-F62F-0923-DDE8-810A5F9312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66BC1A-0F26-4BBB-B346-C94863B47F5E}" type="datetimeFigureOut">
              <a:rPr lang="en-IN" smtClean="0"/>
              <a:t>05-10-2026</a:t>
            </a:fld>
            <a:endParaRPr lang="en-IN"/>
          </a:p>
        </p:txBody>
      </p:sp>
      <p:sp>
        <p:nvSpPr>
          <p:cNvPr id="5" name="Footer Placeholder 4">
            <a:extLst>
              <a:ext uri="{FF2B5EF4-FFF2-40B4-BE49-F238E27FC236}">
                <a16:creationId xmlns:a16="http://schemas.microsoft.com/office/drawing/2014/main" id="{EEF80F43-FCD6-BAF9-25A3-1CC0649EA8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C9C9A6E-9608-0684-39F1-00E9D846D8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EDEFC8-21A4-4DF0-8896-622F51C78563}" type="slidenum">
              <a:rPr lang="en-IN" smtClean="0"/>
              <a:t>‹#›</a:t>
            </a:fld>
            <a:endParaRPr lang="en-IN"/>
          </a:p>
        </p:txBody>
      </p:sp>
    </p:spTree>
    <p:extLst>
      <p:ext uri="{BB962C8B-B14F-4D97-AF65-F5344CB8AC3E}">
        <p14:creationId xmlns:p14="http://schemas.microsoft.com/office/powerpoint/2010/main" val="1677812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9B4C2-F62F-B7AC-57FB-8EB1C53220BE}"/>
              </a:ext>
            </a:extLst>
          </p:cNvPr>
          <p:cNvSpPr>
            <a:spLocks noGrp="1"/>
          </p:cNvSpPr>
          <p:nvPr>
            <p:ph type="ctrTitle"/>
          </p:nvPr>
        </p:nvSpPr>
        <p:spPr>
          <a:xfrm>
            <a:off x="1609724" y="1114424"/>
            <a:ext cx="8223115" cy="1914525"/>
          </a:xfrm>
        </p:spPr>
        <p:txBody>
          <a:bodyPr>
            <a:noAutofit/>
          </a:bodyPr>
          <a:lstStyle/>
          <a:p>
            <a:pPr lvl="0" algn="l"/>
            <a:r>
              <a:rPr lang="en-IN" sz="1600" dirty="0">
                <a:solidFill>
                  <a:schemeClr val="bg1"/>
                </a:solidFill>
                <a:latin typeface="Arial" panose="020B0604020202020204" pitchFamily="34" charset="0"/>
                <a:cs typeface="Arial" panose="020B0604020202020204" pitchFamily="34" charset="0"/>
              </a:rPr>
              <a:t>Student Name: -Kumbhar Dilip </a:t>
            </a:r>
            <a:br>
              <a:rPr lang="en-IN" sz="1600" dirty="0">
                <a:solidFill>
                  <a:schemeClr val="bg1"/>
                </a:solidFill>
                <a:latin typeface="Arial" panose="020B0604020202020204" pitchFamily="34" charset="0"/>
                <a:cs typeface="Arial" panose="020B0604020202020204" pitchFamily="34" charset="0"/>
              </a:rPr>
            </a:br>
            <a:r>
              <a:rPr lang="en-IN" sz="1600" dirty="0">
                <a:solidFill>
                  <a:schemeClr val="bg1"/>
                </a:solidFill>
                <a:latin typeface="Arial" panose="020B0604020202020204" pitchFamily="34" charset="0"/>
                <a:cs typeface="Arial" panose="020B0604020202020204" pitchFamily="34" charset="0"/>
              </a:rPr>
              <a:t>College Name: - Indus University </a:t>
            </a:r>
            <a:br>
              <a:rPr lang="en-IN" sz="1600" dirty="0">
                <a:solidFill>
                  <a:schemeClr val="bg1"/>
                </a:solidFill>
                <a:latin typeface="Arial" panose="020B0604020202020204" pitchFamily="34" charset="0"/>
                <a:cs typeface="Arial" panose="020B0604020202020204" pitchFamily="34" charset="0"/>
              </a:rPr>
            </a:br>
            <a:r>
              <a:rPr lang="en-IN" sz="1600" dirty="0">
                <a:solidFill>
                  <a:schemeClr val="bg1"/>
                </a:solidFill>
                <a:latin typeface="Arial" panose="020B0604020202020204" pitchFamily="34" charset="0"/>
                <a:cs typeface="Arial" panose="020B0604020202020204" pitchFamily="34" charset="0"/>
              </a:rPr>
              <a:t>Internship  :- Cyber Security Internship</a:t>
            </a:r>
            <a:br>
              <a:rPr lang="en-IN" sz="1600" dirty="0">
                <a:solidFill>
                  <a:schemeClr val="bg1"/>
                </a:solidFill>
                <a:latin typeface="Arial" panose="020B0604020202020204" pitchFamily="34" charset="0"/>
                <a:cs typeface="Arial" panose="020B0604020202020204" pitchFamily="34" charset="0"/>
              </a:rPr>
            </a:br>
            <a:r>
              <a:rPr lang="en-IN" sz="1600" dirty="0">
                <a:solidFill>
                  <a:schemeClr val="bg1"/>
                </a:solidFill>
                <a:latin typeface="Arial" panose="020B0604020202020204" pitchFamily="34" charset="0"/>
                <a:cs typeface="Arial" panose="020B0604020202020204" pitchFamily="34" charset="0"/>
              </a:rPr>
              <a:t>Organization :- DG Intern Hub</a:t>
            </a:r>
            <a:br>
              <a:rPr lang="en-IN" sz="1600" dirty="0">
                <a:solidFill>
                  <a:schemeClr val="bg1"/>
                </a:solidFill>
                <a:latin typeface="Arial" panose="020B0604020202020204" pitchFamily="34" charset="0"/>
                <a:cs typeface="Arial" panose="020B0604020202020204" pitchFamily="34" charset="0"/>
              </a:rPr>
            </a:br>
            <a:r>
              <a:rPr lang="en-IN" sz="1600" dirty="0">
                <a:solidFill>
                  <a:schemeClr val="bg1"/>
                </a:solidFill>
                <a:latin typeface="Arial" panose="020B0604020202020204" pitchFamily="34" charset="0"/>
                <a:cs typeface="Arial" panose="020B0604020202020204" pitchFamily="34" charset="0"/>
              </a:rPr>
              <a:t>Week 5 Assignment: - VAPT Tools – Practical Learning</a:t>
            </a:r>
            <a:br>
              <a:rPr lang="en-IN" sz="1600" dirty="0">
                <a:solidFill>
                  <a:schemeClr val="bg1"/>
                </a:solidFill>
                <a:latin typeface="Arial" panose="020B0604020202020204" pitchFamily="34" charset="0"/>
                <a:cs typeface="Arial" panose="020B0604020202020204" pitchFamily="34" charset="0"/>
              </a:rPr>
            </a:br>
            <a:r>
              <a:rPr lang="en-IN" sz="1600" dirty="0">
                <a:solidFill>
                  <a:schemeClr val="bg1"/>
                </a:solidFill>
                <a:latin typeface="Arial" panose="020B0604020202020204" pitchFamily="34" charset="0"/>
                <a:cs typeface="Arial" panose="020B0604020202020204" pitchFamily="34" charset="0"/>
              </a:rPr>
              <a:t>SID: - dg/</a:t>
            </a:r>
            <a:r>
              <a:rPr lang="en-IN" sz="1600" dirty="0" err="1">
                <a:solidFill>
                  <a:schemeClr val="bg1"/>
                </a:solidFill>
                <a:latin typeface="Arial" panose="020B0604020202020204" pitchFamily="34" charset="0"/>
                <a:cs typeface="Arial" panose="020B0604020202020204" pitchFamily="34" charset="0"/>
              </a:rPr>
              <a:t>september</a:t>
            </a:r>
            <a:r>
              <a:rPr lang="en-IN" sz="1600" dirty="0">
                <a:solidFill>
                  <a:schemeClr val="bg1"/>
                </a:solidFill>
                <a:latin typeface="Arial" panose="020B0604020202020204" pitchFamily="34" charset="0"/>
                <a:cs typeface="Arial" panose="020B0604020202020204" pitchFamily="34" charset="0"/>
              </a:rPr>
              <a:t>/cyber/264 </a:t>
            </a:r>
            <a:br>
              <a:rPr lang="en-IN" sz="1600" dirty="0">
                <a:solidFill>
                  <a:schemeClr val="bg1"/>
                </a:solidFill>
                <a:latin typeface="Arial" panose="020B0604020202020204" pitchFamily="34" charset="0"/>
                <a:cs typeface="Arial" panose="020B0604020202020204" pitchFamily="34" charset="0"/>
              </a:rPr>
            </a:br>
            <a:r>
              <a:rPr lang="en-IN" sz="1600" dirty="0">
                <a:solidFill>
                  <a:schemeClr val="bg1"/>
                </a:solidFill>
                <a:latin typeface="Arial" panose="020B0604020202020204" pitchFamily="34" charset="0"/>
                <a:cs typeface="Arial" panose="020B0604020202020204" pitchFamily="34" charset="0"/>
              </a:rPr>
              <a:t>Mail: - dilipkumbhar.dginternshub@gmail.com </a:t>
            </a:r>
            <a:br>
              <a:rPr lang="en-IN" sz="1600" dirty="0">
                <a:solidFill>
                  <a:schemeClr val="bg1"/>
                </a:solidFill>
                <a:latin typeface="Arial" panose="020B0604020202020204" pitchFamily="34" charset="0"/>
                <a:cs typeface="Arial" panose="020B0604020202020204" pitchFamily="34" charset="0"/>
              </a:rPr>
            </a:br>
            <a:r>
              <a:rPr lang="en-IN" sz="1600" dirty="0">
                <a:solidFill>
                  <a:schemeClr val="bg1"/>
                </a:solidFill>
                <a:latin typeface="Arial" panose="020B0604020202020204" pitchFamily="34" charset="0"/>
                <a:cs typeface="Arial" panose="020B0604020202020204" pitchFamily="34" charset="0"/>
              </a:rPr>
              <a:t>Task 5: - Theory + Practical </a:t>
            </a:r>
          </a:p>
        </p:txBody>
      </p:sp>
      <p:pic>
        <p:nvPicPr>
          <p:cNvPr id="5" name="Picture 4">
            <a:extLst>
              <a:ext uri="{FF2B5EF4-FFF2-40B4-BE49-F238E27FC236}">
                <a16:creationId xmlns:a16="http://schemas.microsoft.com/office/drawing/2014/main" id="{8ADD769D-1886-59ED-9AC6-EDF73AE60603}"/>
              </a:ext>
            </a:extLst>
          </p:cNvPr>
          <p:cNvPicPr>
            <a:picLocks noChangeAspect="1"/>
          </p:cNvPicPr>
          <p:nvPr/>
        </p:nvPicPr>
        <p:blipFill>
          <a:blip r:embed="rId3">
            <a:extLst>
              <a:ext uri="{28A0092B-C50C-407E-A947-70E740481C1C}">
                <a14:useLocalDpi xmlns:a14="http://schemas.microsoft.com/office/drawing/2010/main" val="0"/>
              </a:ext>
            </a:extLst>
          </a:blip>
          <a:srcRect l="17712" r="20265"/>
          <a:stretch>
            <a:fillRect/>
          </a:stretch>
        </p:blipFill>
        <p:spPr>
          <a:xfrm>
            <a:off x="11361989" y="238599"/>
            <a:ext cx="515686" cy="556532"/>
          </a:xfrm>
          <a:prstGeom prst="roundRect">
            <a:avLst>
              <a:gd name="adj" fmla="val 8594"/>
            </a:avLst>
          </a:prstGeom>
          <a:solidFill>
            <a:srgbClr val="FFFFFF">
              <a:shade val="85000"/>
            </a:srgbClr>
          </a:solidFill>
          <a:ln>
            <a:solidFill>
              <a:schemeClr val="bg1"/>
            </a:solidFill>
          </a:ln>
          <a:effectLst>
            <a:reflection blurRad="12700" stA="38000" endPos="28000" dist="5000" dir="5400000" sy="-100000" algn="bl" rotWithShape="0"/>
          </a:effectLst>
        </p:spPr>
      </p:pic>
      <p:graphicFrame>
        <p:nvGraphicFramePr>
          <p:cNvPr id="8" name="Table 7">
            <a:extLst>
              <a:ext uri="{FF2B5EF4-FFF2-40B4-BE49-F238E27FC236}">
                <a16:creationId xmlns:a16="http://schemas.microsoft.com/office/drawing/2014/main" id="{00EC41AB-CF04-1B5C-A293-8DB0DFD96165}"/>
              </a:ext>
            </a:extLst>
          </p:cNvPr>
          <p:cNvGraphicFramePr>
            <a:graphicFrameLocks noGrp="1"/>
          </p:cNvGraphicFramePr>
          <p:nvPr>
            <p:extLst>
              <p:ext uri="{D42A27DB-BD31-4B8C-83A1-F6EECF244321}">
                <p14:modId xmlns:p14="http://schemas.microsoft.com/office/powerpoint/2010/main" val="3610293034"/>
              </p:ext>
            </p:extLst>
          </p:nvPr>
        </p:nvGraphicFramePr>
        <p:xfrm>
          <a:off x="1609724" y="3529013"/>
          <a:ext cx="9630443" cy="2438400"/>
        </p:xfrm>
        <a:graphic>
          <a:graphicData uri="http://schemas.openxmlformats.org/drawingml/2006/table">
            <a:tbl>
              <a:tblPr>
                <a:tableStyleId>{5C22544A-7EE6-4342-B048-85BDC9FD1C3A}</a:tableStyleId>
              </a:tblPr>
              <a:tblGrid>
                <a:gridCol w="800768">
                  <a:extLst>
                    <a:ext uri="{9D8B030D-6E8A-4147-A177-3AD203B41FA5}">
                      <a16:colId xmlns:a16="http://schemas.microsoft.com/office/drawing/2014/main" val="4265622245"/>
                    </a:ext>
                  </a:extLst>
                </a:gridCol>
                <a:gridCol w="2447925">
                  <a:extLst>
                    <a:ext uri="{9D8B030D-6E8A-4147-A177-3AD203B41FA5}">
                      <a16:colId xmlns:a16="http://schemas.microsoft.com/office/drawing/2014/main" val="2037823072"/>
                    </a:ext>
                  </a:extLst>
                </a:gridCol>
                <a:gridCol w="6381750">
                  <a:extLst>
                    <a:ext uri="{9D8B030D-6E8A-4147-A177-3AD203B41FA5}">
                      <a16:colId xmlns:a16="http://schemas.microsoft.com/office/drawing/2014/main" val="2607137269"/>
                    </a:ext>
                  </a:extLst>
                </a:gridCol>
              </a:tblGrid>
              <a:tr h="0">
                <a:tc>
                  <a:txBody>
                    <a:bodyPr/>
                    <a:lstStyle/>
                    <a:p>
                      <a:pPr marL="0" marR="0" algn="l">
                        <a:buNone/>
                      </a:pPr>
                      <a:r>
                        <a:rPr lang="en-IN" sz="1400">
                          <a:solidFill>
                            <a:schemeClr val="bg1"/>
                          </a:solidFill>
                          <a:effectLst/>
                          <a:latin typeface="Arial" panose="020B0604020202020204" pitchFamily="34" charset="0"/>
                          <a:cs typeface="Arial" panose="020B0604020202020204" pitchFamily="34" charset="0"/>
                        </a:rPr>
                        <a:t>Sr. No.</a:t>
                      </a:r>
                      <a:endParaRPr lang="en-IN" sz="1400" b="1" i="0">
                        <a:solidFill>
                          <a:schemeClr val="bg1"/>
                        </a:solidFill>
                        <a:effectLst/>
                        <a:latin typeface="Arial" panose="020B0604020202020204" pitchFamily="34" charset="0"/>
                        <a:cs typeface="Arial" panose="020B0604020202020204" pitchFamily="34" charset="0"/>
                      </a:endParaRPr>
                    </a:p>
                  </a:txBody>
                  <a:tcPr anchor="ctr">
                    <a:solidFill>
                      <a:schemeClr val="accent1">
                        <a:lumMod val="60000"/>
                        <a:lumOff val="40000"/>
                      </a:schemeClr>
                    </a:solidFill>
                  </a:tcPr>
                </a:tc>
                <a:tc>
                  <a:txBody>
                    <a:bodyPr/>
                    <a:lstStyle/>
                    <a:p>
                      <a:pPr marL="0" marR="0" algn="l">
                        <a:buNone/>
                      </a:pPr>
                      <a:r>
                        <a:rPr lang="en-IN" sz="1400" dirty="0">
                          <a:solidFill>
                            <a:schemeClr val="bg1"/>
                          </a:solidFill>
                          <a:effectLst/>
                          <a:latin typeface="Arial" panose="020B0604020202020204" pitchFamily="34" charset="0"/>
                          <a:cs typeface="Arial" panose="020B0604020202020204" pitchFamily="34" charset="0"/>
                        </a:rPr>
                        <a:t>Slide Title</a:t>
                      </a:r>
                      <a:endParaRPr lang="en-IN" sz="1400" b="1" i="0" dirty="0">
                        <a:solidFill>
                          <a:schemeClr val="bg1"/>
                        </a:solidFill>
                        <a:effectLst/>
                        <a:latin typeface="Arial" panose="020B0604020202020204" pitchFamily="34" charset="0"/>
                        <a:cs typeface="Arial" panose="020B0604020202020204" pitchFamily="34" charset="0"/>
                      </a:endParaRPr>
                    </a:p>
                  </a:txBody>
                  <a:tcPr anchor="ctr">
                    <a:solidFill>
                      <a:schemeClr val="accent1">
                        <a:lumMod val="60000"/>
                        <a:lumOff val="40000"/>
                      </a:schemeClr>
                    </a:solidFill>
                  </a:tcPr>
                </a:tc>
                <a:tc>
                  <a:txBody>
                    <a:bodyPr/>
                    <a:lstStyle/>
                    <a:p>
                      <a:pPr marL="0" marR="0" algn="l">
                        <a:buNone/>
                      </a:pPr>
                      <a:r>
                        <a:rPr lang="en-IN" sz="1400" dirty="0">
                          <a:solidFill>
                            <a:schemeClr val="bg1"/>
                          </a:solidFill>
                          <a:effectLst/>
                          <a:latin typeface="Arial" panose="020B0604020202020204" pitchFamily="34" charset="0"/>
                          <a:cs typeface="Arial" panose="020B0604020202020204" pitchFamily="34" charset="0"/>
                        </a:rPr>
                        <a:t>Main Points</a:t>
                      </a:r>
                      <a:endParaRPr lang="en-IN" sz="1400" b="1" i="0" dirty="0">
                        <a:solidFill>
                          <a:schemeClr val="bg1"/>
                        </a:solidFill>
                        <a:effectLst/>
                        <a:latin typeface="Arial" panose="020B0604020202020204" pitchFamily="34" charset="0"/>
                        <a:cs typeface="Arial" panose="020B0604020202020204" pitchFamily="34" charset="0"/>
                      </a:endParaRPr>
                    </a:p>
                  </a:txBody>
                  <a:tcPr anchor="ctr">
                    <a:solidFill>
                      <a:schemeClr val="accent1">
                        <a:lumMod val="60000"/>
                        <a:lumOff val="40000"/>
                      </a:schemeClr>
                    </a:solidFill>
                  </a:tcPr>
                </a:tc>
                <a:extLst>
                  <a:ext uri="{0D108BD9-81ED-4DB2-BD59-A6C34878D82A}">
                    <a16:rowId xmlns:a16="http://schemas.microsoft.com/office/drawing/2014/main" val="3312242460"/>
                  </a:ext>
                </a:extLst>
              </a:tr>
              <a:tr h="0">
                <a:tc>
                  <a:txBody>
                    <a:bodyPr/>
                    <a:lstStyle/>
                    <a:p>
                      <a:pPr marL="0" marR="0" algn="l">
                        <a:buNone/>
                      </a:pPr>
                      <a:r>
                        <a:rPr lang="en-IN" sz="1400" dirty="0">
                          <a:effectLst/>
                          <a:latin typeface="Arial" panose="020B0604020202020204" pitchFamily="34" charset="0"/>
                          <a:cs typeface="Arial" panose="020B0604020202020204" pitchFamily="34" charset="0"/>
                        </a:rPr>
                        <a:t>1</a:t>
                      </a:r>
                      <a:endParaRPr lang="en-IN" sz="1400" b="0" i="0" dirty="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a:effectLst/>
                          <a:latin typeface="Arial" panose="020B0604020202020204" pitchFamily="34" charset="0"/>
                          <a:cs typeface="Arial" panose="020B0604020202020204" pitchFamily="34" charset="0"/>
                        </a:rPr>
                        <a:t>Week 5 – VAPT Practical</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dirty="0">
                          <a:effectLst/>
                          <a:latin typeface="Arial" panose="020B0604020202020204" pitchFamily="34" charset="0"/>
                          <a:cs typeface="Arial" panose="020B0604020202020204" pitchFamily="34" charset="0"/>
                        </a:rPr>
                        <a:t>Name, Internship Details</a:t>
                      </a:r>
                      <a:endParaRPr lang="en-IN" sz="1400" b="0" i="0" dirty="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extLst>
                  <a:ext uri="{0D108BD9-81ED-4DB2-BD59-A6C34878D82A}">
                    <a16:rowId xmlns:a16="http://schemas.microsoft.com/office/drawing/2014/main" val="2266663874"/>
                  </a:ext>
                </a:extLst>
              </a:tr>
              <a:tr h="0">
                <a:tc>
                  <a:txBody>
                    <a:bodyPr/>
                    <a:lstStyle/>
                    <a:p>
                      <a:pPr marL="0" marR="0" algn="l">
                        <a:buNone/>
                      </a:pPr>
                      <a:r>
                        <a:rPr lang="en-IN" sz="1400" dirty="0">
                          <a:effectLst/>
                          <a:latin typeface="Arial" panose="020B0604020202020204" pitchFamily="34" charset="0"/>
                          <a:cs typeface="Arial" panose="020B0604020202020204" pitchFamily="34" charset="0"/>
                        </a:rPr>
                        <a:t>2</a:t>
                      </a:r>
                      <a:endParaRPr lang="en-IN" sz="1400" b="0" i="0" dirty="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a:effectLst/>
                          <a:latin typeface="Arial" panose="020B0604020202020204" pitchFamily="34" charset="0"/>
                          <a:cs typeface="Arial" panose="020B0604020202020204" pitchFamily="34" charset="0"/>
                        </a:rPr>
                        <a:t>What is VAPT?</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dirty="0">
                          <a:effectLst/>
                          <a:latin typeface="Arial" panose="020B0604020202020204" pitchFamily="34" charset="0"/>
                          <a:cs typeface="Arial" panose="020B0604020202020204" pitchFamily="34" charset="0"/>
                        </a:rPr>
                        <a:t>Vulnerability Assessment, Penetration Testing, Purpose, Authorized Testing</a:t>
                      </a:r>
                      <a:endParaRPr lang="en-IN" sz="1400" b="0" i="0" dirty="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extLst>
                  <a:ext uri="{0D108BD9-81ED-4DB2-BD59-A6C34878D82A}">
                    <a16:rowId xmlns:a16="http://schemas.microsoft.com/office/drawing/2014/main" val="2677742756"/>
                  </a:ext>
                </a:extLst>
              </a:tr>
              <a:tr h="0">
                <a:tc>
                  <a:txBody>
                    <a:bodyPr/>
                    <a:lstStyle/>
                    <a:p>
                      <a:pPr marL="0" marR="0" algn="l">
                        <a:buNone/>
                      </a:pPr>
                      <a:r>
                        <a:rPr lang="en-IN" sz="1400">
                          <a:effectLst/>
                          <a:latin typeface="Arial" panose="020B0604020202020204" pitchFamily="34" charset="0"/>
                          <a:cs typeface="Arial" panose="020B0604020202020204" pitchFamily="34" charset="0"/>
                        </a:rPr>
                        <a:t>3</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a:effectLst/>
                          <a:latin typeface="Arial" panose="020B0604020202020204" pitchFamily="34" charset="0"/>
                          <a:cs typeface="Arial" panose="020B0604020202020204" pitchFamily="34" charset="0"/>
                        </a:rPr>
                        <a:t>Tools Used</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a:effectLst/>
                          <a:latin typeface="Arial" panose="020B0604020202020204" pitchFamily="34" charset="0"/>
                          <a:cs typeface="Arial" panose="020B0604020202020204" pitchFamily="34" charset="0"/>
                        </a:rPr>
                        <a:t>Nmap, Nikto, Burp Suite</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extLst>
                  <a:ext uri="{0D108BD9-81ED-4DB2-BD59-A6C34878D82A}">
                    <a16:rowId xmlns:a16="http://schemas.microsoft.com/office/drawing/2014/main" val="3945124863"/>
                  </a:ext>
                </a:extLst>
              </a:tr>
              <a:tr h="0">
                <a:tc>
                  <a:txBody>
                    <a:bodyPr/>
                    <a:lstStyle/>
                    <a:p>
                      <a:pPr marL="0" marR="0" algn="l">
                        <a:buNone/>
                      </a:pPr>
                      <a:r>
                        <a:rPr lang="en-IN" sz="1400" dirty="0">
                          <a:effectLst/>
                          <a:latin typeface="Arial" panose="020B0604020202020204" pitchFamily="34" charset="0"/>
                          <a:cs typeface="Arial" panose="020B0604020202020204" pitchFamily="34" charset="0"/>
                        </a:rPr>
                        <a:t>4</a:t>
                      </a:r>
                      <a:endParaRPr lang="en-IN" sz="1400" b="0" i="0" dirty="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a:effectLst/>
                          <a:latin typeface="Arial" panose="020B0604020202020204" pitchFamily="34" charset="0"/>
                          <a:cs typeface="Arial" panose="020B0604020202020204" pitchFamily="34" charset="0"/>
                        </a:rPr>
                        <a:t>Nmap Results</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a:effectLst/>
                          <a:latin typeface="Arial" panose="020B0604020202020204" pitchFamily="34" charset="0"/>
                          <a:cs typeface="Arial" panose="020B0604020202020204" pitchFamily="34" charset="0"/>
                        </a:rPr>
                        <a:t>-sS, -sV, -A, Scan Results, Screenshot</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extLst>
                  <a:ext uri="{0D108BD9-81ED-4DB2-BD59-A6C34878D82A}">
                    <a16:rowId xmlns:a16="http://schemas.microsoft.com/office/drawing/2014/main" val="3957761166"/>
                  </a:ext>
                </a:extLst>
              </a:tr>
              <a:tr h="0">
                <a:tc>
                  <a:txBody>
                    <a:bodyPr/>
                    <a:lstStyle/>
                    <a:p>
                      <a:pPr marL="0" marR="0" algn="l">
                        <a:buNone/>
                      </a:pPr>
                      <a:r>
                        <a:rPr lang="en-IN" sz="1400">
                          <a:effectLst/>
                          <a:latin typeface="Arial" panose="020B0604020202020204" pitchFamily="34" charset="0"/>
                          <a:cs typeface="Arial" panose="020B0604020202020204" pitchFamily="34" charset="0"/>
                        </a:rPr>
                        <a:t>5</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a:effectLst/>
                          <a:latin typeface="Arial" panose="020B0604020202020204" pitchFamily="34" charset="0"/>
                          <a:cs typeface="Arial" panose="020B0604020202020204" pitchFamily="34" charset="0"/>
                        </a:rPr>
                        <a:t>Nikto Results</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dirty="0">
                          <a:effectLst/>
                          <a:latin typeface="Arial" panose="020B0604020202020204" pitchFamily="34" charset="0"/>
                          <a:cs typeface="Arial" panose="020B0604020202020204" pitchFamily="34" charset="0"/>
                        </a:rPr>
                        <a:t>Scan, Findings, Vulnerabilities, Screenshot</a:t>
                      </a:r>
                      <a:endParaRPr lang="en-IN" sz="1400" b="0" i="0" dirty="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extLst>
                  <a:ext uri="{0D108BD9-81ED-4DB2-BD59-A6C34878D82A}">
                    <a16:rowId xmlns:a16="http://schemas.microsoft.com/office/drawing/2014/main" val="371451336"/>
                  </a:ext>
                </a:extLst>
              </a:tr>
              <a:tr h="0">
                <a:tc>
                  <a:txBody>
                    <a:bodyPr/>
                    <a:lstStyle/>
                    <a:p>
                      <a:pPr marL="0" marR="0" algn="l">
                        <a:buNone/>
                      </a:pPr>
                      <a:r>
                        <a:rPr lang="en-IN" sz="1400">
                          <a:effectLst/>
                          <a:latin typeface="Arial" panose="020B0604020202020204" pitchFamily="34" charset="0"/>
                          <a:cs typeface="Arial" panose="020B0604020202020204" pitchFamily="34" charset="0"/>
                        </a:rPr>
                        <a:t>6</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a:effectLst/>
                          <a:latin typeface="Arial" panose="020B0604020202020204" pitchFamily="34" charset="0"/>
                          <a:cs typeface="Arial" panose="020B0604020202020204" pitchFamily="34" charset="0"/>
                        </a:rPr>
                        <a:t>Burp Suite</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a:effectLst/>
                          <a:latin typeface="Arial" panose="020B0604020202020204" pitchFamily="34" charset="0"/>
                          <a:cs typeface="Arial" panose="020B0604020202020204" pitchFamily="34" charset="0"/>
                        </a:rPr>
                        <a:t>Proxy, HTTP Request, Headers, Cookies, Screenshot</a:t>
                      </a:r>
                      <a:endParaRPr lang="en-IN" sz="1400" b="0" i="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extLst>
                  <a:ext uri="{0D108BD9-81ED-4DB2-BD59-A6C34878D82A}">
                    <a16:rowId xmlns:a16="http://schemas.microsoft.com/office/drawing/2014/main" val="3799764469"/>
                  </a:ext>
                </a:extLst>
              </a:tr>
              <a:tr h="0">
                <a:tc>
                  <a:txBody>
                    <a:bodyPr/>
                    <a:lstStyle/>
                    <a:p>
                      <a:pPr marL="0" marR="0" algn="l">
                        <a:buNone/>
                      </a:pPr>
                      <a:r>
                        <a:rPr lang="en-IN" sz="1400" dirty="0">
                          <a:effectLst/>
                          <a:latin typeface="Arial" panose="020B0604020202020204" pitchFamily="34" charset="0"/>
                          <a:cs typeface="Arial" panose="020B0604020202020204" pitchFamily="34" charset="0"/>
                        </a:rPr>
                        <a:t>7</a:t>
                      </a:r>
                      <a:endParaRPr lang="en-IN" sz="1400" b="0" i="0" dirty="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dirty="0">
                          <a:effectLst/>
                          <a:latin typeface="Arial" panose="020B0604020202020204" pitchFamily="34" charset="0"/>
                          <a:cs typeface="Arial" panose="020B0604020202020204" pitchFamily="34" charset="0"/>
                        </a:rPr>
                        <a:t>Findings &amp; Conclusion</a:t>
                      </a:r>
                      <a:endParaRPr lang="en-IN" sz="1400" b="0" i="0" dirty="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tc>
                  <a:txBody>
                    <a:bodyPr/>
                    <a:lstStyle/>
                    <a:p>
                      <a:pPr marL="0" marR="0" algn="l">
                        <a:buNone/>
                      </a:pPr>
                      <a:r>
                        <a:rPr lang="en-IN" sz="1400" dirty="0">
                          <a:effectLst/>
                          <a:latin typeface="Arial" panose="020B0604020202020204" pitchFamily="34" charset="0"/>
                          <a:cs typeface="Arial" panose="020B0604020202020204" pitchFamily="34" charset="0"/>
                        </a:rPr>
                        <a:t>Key Findings, Recommendations, Learning Outcomes, Conclusion</a:t>
                      </a:r>
                      <a:endParaRPr lang="en-IN" sz="1400" b="0" i="0" dirty="0">
                        <a:solidFill>
                          <a:srgbClr val="0D0D0D"/>
                        </a:solidFill>
                        <a:effectLst/>
                        <a:latin typeface="Arial" panose="020B0604020202020204" pitchFamily="34" charset="0"/>
                        <a:cs typeface="Arial" panose="020B0604020202020204" pitchFamily="34" charset="0"/>
                      </a:endParaRPr>
                    </a:p>
                  </a:txBody>
                  <a:tcPr anchor="ctr">
                    <a:solidFill>
                      <a:schemeClr val="bg2">
                        <a:lumMod val="90000"/>
                      </a:schemeClr>
                    </a:solidFill>
                  </a:tcPr>
                </a:tc>
                <a:extLst>
                  <a:ext uri="{0D108BD9-81ED-4DB2-BD59-A6C34878D82A}">
                    <a16:rowId xmlns:a16="http://schemas.microsoft.com/office/drawing/2014/main" val="2908347099"/>
                  </a:ext>
                </a:extLst>
              </a:tr>
            </a:tbl>
          </a:graphicData>
        </a:graphic>
      </p:graphicFrame>
    </p:spTree>
    <p:extLst>
      <p:ext uri="{BB962C8B-B14F-4D97-AF65-F5344CB8AC3E}">
        <p14:creationId xmlns:p14="http://schemas.microsoft.com/office/powerpoint/2010/main" val="2678245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56D261A-0FD7-6CEF-DA22-F0B11386A08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6E5AFDD-3AD5-DB59-FD15-A75B9F0D03D3}"/>
              </a:ext>
            </a:extLst>
          </p:cNvPr>
          <p:cNvSpPr txBox="1"/>
          <p:nvPr/>
        </p:nvSpPr>
        <p:spPr>
          <a:xfrm>
            <a:off x="921852" y="610464"/>
            <a:ext cx="8758861" cy="738664"/>
          </a:xfrm>
          <a:prstGeom prst="rect">
            <a:avLst/>
          </a:prstGeom>
          <a:noFill/>
        </p:spPr>
        <p:txBody>
          <a:bodyPr wrap="square">
            <a:spAutoFit/>
          </a:bodyPr>
          <a:lstStyle/>
          <a:p>
            <a:pPr indent="0" algn="l" rtl="0">
              <a:buNone/>
            </a:pPr>
            <a:r>
              <a:rPr lang="en-IN" sz="1400" i="0" dirty="0">
                <a:solidFill>
                  <a:schemeClr val="bg1"/>
                </a:solidFill>
                <a:effectLst/>
                <a:latin typeface="Arial" panose="020B0604020202020204" pitchFamily="34" charset="0"/>
                <a:cs typeface="Arial" panose="020B0604020202020204" pitchFamily="34" charset="0"/>
              </a:rPr>
              <a:t>What is VAPT?</a:t>
            </a:r>
          </a:p>
          <a:p>
            <a:pPr indent="0" algn="l" rtl="0">
              <a:buNone/>
            </a:pPr>
            <a:r>
              <a:rPr lang="en-IN" sz="1400" i="0" dirty="0">
                <a:solidFill>
                  <a:schemeClr val="bg1"/>
                </a:solidFill>
                <a:effectLst/>
                <a:latin typeface="Arial" panose="020B0604020202020204" pitchFamily="34" charset="0"/>
                <a:cs typeface="Arial" panose="020B0604020202020204" pitchFamily="34" charset="0"/>
              </a:rPr>
              <a:t>VAPT stands for Vulnerability Assessment and Penetration Testing. It is a security process used to find and understand weaknesses in a computer system, website, application, or network.</a:t>
            </a:r>
          </a:p>
        </p:txBody>
      </p:sp>
      <p:sp>
        <p:nvSpPr>
          <p:cNvPr id="7" name="TextBox 6">
            <a:extLst>
              <a:ext uri="{FF2B5EF4-FFF2-40B4-BE49-F238E27FC236}">
                <a16:creationId xmlns:a16="http://schemas.microsoft.com/office/drawing/2014/main" id="{EC65C36D-5024-BE5D-1E6B-63F98EAB48D2}"/>
              </a:ext>
            </a:extLst>
          </p:cNvPr>
          <p:cNvSpPr txBox="1"/>
          <p:nvPr/>
        </p:nvSpPr>
        <p:spPr>
          <a:xfrm>
            <a:off x="921852" y="1499129"/>
            <a:ext cx="8758861" cy="1384995"/>
          </a:xfrm>
          <a:prstGeom prst="rect">
            <a:avLst/>
          </a:prstGeom>
          <a:noFill/>
        </p:spPr>
        <p:txBody>
          <a:bodyPr wrap="square">
            <a:spAutoFit/>
          </a:bodyPr>
          <a:lstStyle/>
          <a:p>
            <a:pPr indent="0" algn="l" rtl="0">
              <a:buNone/>
            </a:pPr>
            <a:r>
              <a:rPr lang="en-IN" sz="1400" i="0" dirty="0">
                <a:solidFill>
                  <a:schemeClr val="bg1"/>
                </a:solidFill>
                <a:effectLst/>
                <a:latin typeface="Arial" panose="020B0604020202020204" pitchFamily="34" charset="0"/>
                <a:cs typeface="Arial" panose="020B0604020202020204" pitchFamily="34" charset="0"/>
              </a:rPr>
              <a:t>1. Vulnerability Assessment</a:t>
            </a:r>
          </a:p>
          <a:p>
            <a:pPr indent="0" algn="l" rtl="0">
              <a:buNone/>
            </a:pPr>
            <a:r>
              <a:rPr lang="en-IN" sz="1400" i="0" dirty="0">
                <a:solidFill>
                  <a:schemeClr val="bg1"/>
                </a:solidFill>
                <a:effectLst/>
                <a:latin typeface="Arial" panose="020B0604020202020204" pitchFamily="34" charset="0"/>
                <a:cs typeface="Arial" panose="020B0604020202020204" pitchFamily="34" charset="0"/>
              </a:rPr>
              <a:t>Vulnerability Assessment is the process of finding security weaknesses in a system.</a:t>
            </a:r>
          </a:p>
          <a:p>
            <a:pPr indent="0" algn="l" rtl="0">
              <a:buNone/>
            </a:pPr>
            <a:r>
              <a:rPr lang="en-IN" sz="1400" i="0" dirty="0">
                <a:solidFill>
                  <a:schemeClr val="bg1"/>
                </a:solidFill>
                <a:effectLst/>
                <a:latin typeface="Arial" panose="020B0604020202020204" pitchFamily="34" charset="0"/>
                <a:cs typeface="Arial" panose="020B0604020202020204" pitchFamily="34" charset="0"/>
              </a:rPr>
              <a:t>For example, </a:t>
            </a:r>
          </a:p>
          <a:p>
            <a:pPr marL="342900" lvl="0" indent="-342900" algn="l" rtl="0">
              <a:buFont typeface="Arial" panose="020B0604020202020204" pitchFamily="34" charset="0"/>
              <a:buChar char="•"/>
            </a:pPr>
            <a:r>
              <a:rPr lang="en-IN" sz="1400" i="0" dirty="0">
                <a:solidFill>
                  <a:schemeClr val="bg1"/>
                </a:solidFill>
                <a:effectLst/>
                <a:latin typeface="Arial" panose="020B0604020202020204" pitchFamily="34" charset="0"/>
                <a:cs typeface="Arial" panose="020B0604020202020204" pitchFamily="34" charset="0"/>
              </a:rPr>
              <a:t>Software is outdated.</a:t>
            </a:r>
          </a:p>
          <a:p>
            <a:pPr marL="342900" lvl="0" indent="-342900" algn="l" rtl="0">
              <a:buFont typeface="Arial" panose="020B0604020202020204" pitchFamily="34" charset="0"/>
              <a:buChar char="•"/>
            </a:pPr>
            <a:r>
              <a:rPr lang="en-IN" sz="1400" i="0" dirty="0">
                <a:solidFill>
                  <a:schemeClr val="bg1"/>
                </a:solidFill>
                <a:effectLst/>
                <a:latin typeface="Arial" panose="020B0604020202020204" pitchFamily="34" charset="0"/>
                <a:cs typeface="Arial" panose="020B0604020202020204" pitchFamily="34" charset="0"/>
              </a:rPr>
              <a:t>Weak passwords are being used.</a:t>
            </a:r>
          </a:p>
          <a:p>
            <a:pPr marL="342900" lvl="0" indent="-342900" algn="l" rtl="0">
              <a:buFont typeface="Arial" panose="020B0604020202020204" pitchFamily="34" charset="0"/>
              <a:buChar char="•"/>
            </a:pPr>
            <a:r>
              <a:rPr lang="en-IN" sz="1400" i="0" dirty="0">
                <a:solidFill>
                  <a:schemeClr val="bg1"/>
                </a:solidFill>
                <a:effectLst/>
                <a:latin typeface="Arial" panose="020B0604020202020204" pitchFamily="34" charset="0"/>
                <a:cs typeface="Arial" panose="020B0604020202020204" pitchFamily="34" charset="0"/>
              </a:rPr>
              <a:t>Unnecessary ports or services are open.</a:t>
            </a:r>
          </a:p>
        </p:txBody>
      </p:sp>
      <p:sp>
        <p:nvSpPr>
          <p:cNvPr id="9" name="TextBox 8">
            <a:extLst>
              <a:ext uri="{FF2B5EF4-FFF2-40B4-BE49-F238E27FC236}">
                <a16:creationId xmlns:a16="http://schemas.microsoft.com/office/drawing/2014/main" id="{FE5854D8-F856-2B1F-09E6-70F947361B1C}"/>
              </a:ext>
            </a:extLst>
          </p:cNvPr>
          <p:cNvSpPr txBox="1"/>
          <p:nvPr/>
        </p:nvSpPr>
        <p:spPr>
          <a:xfrm>
            <a:off x="921852" y="3019770"/>
            <a:ext cx="8758860" cy="954107"/>
          </a:xfrm>
          <a:prstGeom prst="rect">
            <a:avLst/>
          </a:prstGeom>
          <a:noFill/>
        </p:spPr>
        <p:txBody>
          <a:bodyPr wrap="square">
            <a:spAutoFit/>
          </a:bodyPr>
          <a:lstStyle/>
          <a:p>
            <a:pPr indent="0" algn="l" rtl="0">
              <a:buNone/>
            </a:pPr>
            <a:r>
              <a:rPr lang="en-IN" sz="1400" i="0" dirty="0">
                <a:solidFill>
                  <a:schemeClr val="bg1"/>
                </a:solidFill>
                <a:effectLst/>
                <a:latin typeface="Arial" panose="020B0604020202020204" pitchFamily="34" charset="0"/>
                <a:cs typeface="Arial" panose="020B0604020202020204" pitchFamily="34" charset="0"/>
              </a:rPr>
              <a:t>2. Penetration Testing</a:t>
            </a:r>
          </a:p>
          <a:p>
            <a:pPr indent="0" algn="l" rtl="0">
              <a:buNone/>
            </a:pPr>
            <a:r>
              <a:rPr lang="en-IN" sz="1400" i="0" dirty="0">
                <a:solidFill>
                  <a:schemeClr val="bg1"/>
                </a:solidFill>
                <a:effectLst/>
                <a:latin typeface="Arial" panose="020B0604020202020204" pitchFamily="34" charset="0"/>
                <a:cs typeface="Arial" panose="020B0604020202020204" pitchFamily="34" charset="0"/>
              </a:rPr>
              <a:t>Penetration Testing (Pen Testing) goes one step further.</a:t>
            </a:r>
          </a:p>
          <a:p>
            <a:pPr indent="0" algn="l" rtl="0">
              <a:buNone/>
            </a:pPr>
            <a:r>
              <a:rPr lang="en-IN" sz="1400" i="0" dirty="0">
                <a:solidFill>
                  <a:schemeClr val="bg1"/>
                </a:solidFill>
                <a:effectLst/>
                <a:latin typeface="Arial" panose="020B0604020202020204" pitchFamily="34" charset="0"/>
                <a:cs typeface="Arial" panose="020B0604020202020204" pitchFamily="34" charset="0"/>
              </a:rPr>
              <a:t>Here, an authorized security tester tries to safely exploit identified weaknesses to determine how serious they really are and what an attacker could potentially do.</a:t>
            </a:r>
          </a:p>
        </p:txBody>
      </p:sp>
      <p:sp>
        <p:nvSpPr>
          <p:cNvPr id="11" name="TextBox 10">
            <a:extLst>
              <a:ext uri="{FF2B5EF4-FFF2-40B4-BE49-F238E27FC236}">
                <a16:creationId xmlns:a16="http://schemas.microsoft.com/office/drawing/2014/main" id="{A1F76C1E-5846-7DD9-11D8-A85814773713}"/>
              </a:ext>
            </a:extLst>
          </p:cNvPr>
          <p:cNvSpPr txBox="1"/>
          <p:nvPr/>
        </p:nvSpPr>
        <p:spPr>
          <a:xfrm>
            <a:off x="921851" y="4109523"/>
            <a:ext cx="8758860" cy="1600438"/>
          </a:xfrm>
          <a:prstGeom prst="rect">
            <a:avLst/>
          </a:prstGeom>
          <a:noFill/>
        </p:spPr>
        <p:txBody>
          <a:bodyPr wrap="square">
            <a:spAutoFit/>
          </a:bodyPr>
          <a:lstStyle/>
          <a:p>
            <a:pPr indent="0" algn="l" rtl="0">
              <a:buNone/>
            </a:pPr>
            <a:r>
              <a:rPr lang="en-IN" sz="1400" i="0" dirty="0">
                <a:solidFill>
                  <a:schemeClr val="bg1"/>
                </a:solidFill>
                <a:effectLst/>
                <a:latin typeface="Arial" panose="020B0604020202020204" pitchFamily="34" charset="0"/>
                <a:cs typeface="Arial" panose="020B0604020202020204" pitchFamily="34" charset="0"/>
              </a:rPr>
              <a:t>3. Purpose of VAPT</a:t>
            </a:r>
          </a:p>
          <a:p>
            <a:pPr marL="342900" lvl="0" indent="-342900" algn="l" rtl="0">
              <a:buFont typeface="Arial" panose="020B0604020202020204" pitchFamily="34" charset="0"/>
              <a:buChar char="•"/>
            </a:pPr>
            <a:r>
              <a:rPr lang="en-IN" sz="1400" i="0" dirty="0">
                <a:solidFill>
                  <a:schemeClr val="bg1"/>
                </a:solidFill>
                <a:effectLst/>
                <a:latin typeface="Arial" panose="020B0604020202020204" pitchFamily="34" charset="0"/>
                <a:cs typeface="Arial" panose="020B0604020202020204" pitchFamily="34" charset="0"/>
              </a:rPr>
              <a:t>Find security weaknesses</a:t>
            </a:r>
          </a:p>
          <a:p>
            <a:pPr marL="342900" lvl="0" indent="-342900" algn="l" rtl="0">
              <a:buFont typeface="Arial" panose="020B0604020202020204" pitchFamily="34" charset="0"/>
              <a:buChar char="•"/>
            </a:pPr>
            <a:r>
              <a:rPr lang="en-IN" sz="1400" i="0" dirty="0">
                <a:solidFill>
                  <a:schemeClr val="bg1"/>
                </a:solidFill>
                <a:effectLst/>
                <a:latin typeface="Arial" panose="020B0604020202020204" pitchFamily="34" charset="0"/>
                <a:cs typeface="Arial" panose="020B0604020202020204" pitchFamily="34" charset="0"/>
              </a:rPr>
              <a:t>Understand the risk associated with those weaknesses</a:t>
            </a:r>
          </a:p>
          <a:p>
            <a:pPr marL="342900" lvl="0" indent="-342900" algn="l" rtl="0">
              <a:buFont typeface="Arial" panose="020B0604020202020204" pitchFamily="34" charset="0"/>
              <a:buChar char="•"/>
            </a:pPr>
            <a:r>
              <a:rPr lang="en-IN" sz="1400" i="0" dirty="0">
                <a:solidFill>
                  <a:schemeClr val="bg1"/>
                </a:solidFill>
                <a:effectLst/>
                <a:latin typeface="Arial" panose="020B0604020202020204" pitchFamily="34" charset="0"/>
                <a:cs typeface="Arial" panose="020B0604020202020204" pitchFamily="34" charset="0"/>
              </a:rPr>
              <a:t>Check whether vulnerabilities can actually be exploited</a:t>
            </a:r>
          </a:p>
          <a:p>
            <a:pPr marL="342900" lvl="0" indent="-342900" algn="l" rtl="0">
              <a:buFont typeface="Arial" panose="020B0604020202020204" pitchFamily="34" charset="0"/>
              <a:buChar char="•"/>
            </a:pPr>
            <a:r>
              <a:rPr lang="en-IN" sz="1400" i="0" dirty="0">
                <a:solidFill>
                  <a:schemeClr val="bg1"/>
                </a:solidFill>
                <a:effectLst/>
                <a:latin typeface="Arial" panose="020B0604020202020204" pitchFamily="34" charset="0"/>
                <a:cs typeface="Arial" panose="020B0604020202020204" pitchFamily="34" charset="0"/>
              </a:rPr>
              <a:t>Help the organization fix the problems</a:t>
            </a:r>
          </a:p>
          <a:p>
            <a:pPr marL="342900" lvl="0" indent="-342900" algn="l" rtl="0">
              <a:buFont typeface="Arial" panose="020B0604020202020204" pitchFamily="34" charset="0"/>
              <a:buChar char="•"/>
            </a:pPr>
            <a:r>
              <a:rPr lang="en-IN" sz="1400" i="0" dirty="0">
                <a:solidFill>
                  <a:schemeClr val="bg1"/>
                </a:solidFill>
                <a:effectLst/>
                <a:latin typeface="Arial" panose="020B0604020202020204" pitchFamily="34" charset="0"/>
                <a:cs typeface="Arial" panose="020B0604020202020204" pitchFamily="34" charset="0"/>
              </a:rPr>
              <a:t>Improve the overall security of systems and applications</a:t>
            </a:r>
          </a:p>
          <a:p>
            <a:pPr marL="342900" lvl="0" indent="-342900" algn="l" rtl="0">
              <a:buFont typeface="Arial" panose="020B0604020202020204" pitchFamily="34" charset="0"/>
              <a:buChar char="•"/>
            </a:pPr>
            <a:r>
              <a:rPr lang="en-IN" sz="1400" i="0" dirty="0">
                <a:solidFill>
                  <a:schemeClr val="bg1"/>
                </a:solidFill>
                <a:effectLst/>
                <a:latin typeface="Arial" panose="020B0604020202020204" pitchFamily="34" charset="0"/>
                <a:cs typeface="Arial" panose="020B0604020202020204" pitchFamily="34" charset="0"/>
              </a:rPr>
              <a:t>Reduce the chances of real attackers successfully compromising the system</a:t>
            </a:r>
          </a:p>
        </p:txBody>
      </p:sp>
      <p:sp>
        <p:nvSpPr>
          <p:cNvPr id="13" name="TextBox 12">
            <a:extLst>
              <a:ext uri="{FF2B5EF4-FFF2-40B4-BE49-F238E27FC236}">
                <a16:creationId xmlns:a16="http://schemas.microsoft.com/office/drawing/2014/main" id="{72918149-3CFC-6D1D-F2D4-F44159A9F771}"/>
              </a:ext>
            </a:extLst>
          </p:cNvPr>
          <p:cNvSpPr txBox="1"/>
          <p:nvPr/>
        </p:nvSpPr>
        <p:spPr>
          <a:xfrm>
            <a:off x="921851" y="5878204"/>
            <a:ext cx="8758861" cy="523220"/>
          </a:xfrm>
          <a:prstGeom prst="rect">
            <a:avLst/>
          </a:prstGeom>
          <a:noFill/>
        </p:spPr>
        <p:txBody>
          <a:bodyPr wrap="square">
            <a:spAutoFit/>
          </a:bodyPr>
          <a:lstStyle/>
          <a:p>
            <a:r>
              <a:rPr lang="en-IN" sz="1400" i="0" dirty="0">
                <a:solidFill>
                  <a:schemeClr val="bg1"/>
                </a:solidFill>
                <a:effectLst/>
                <a:latin typeface="Arial" panose="020B0604020202020204" pitchFamily="34" charset="0"/>
                <a:cs typeface="Arial" panose="020B0604020202020204" pitchFamily="34" charset="0"/>
              </a:rPr>
              <a:t>4. Authorized testing</a:t>
            </a:r>
          </a:p>
          <a:p>
            <a:r>
              <a:rPr lang="en-IN" sz="1400" i="0" dirty="0">
                <a:solidFill>
                  <a:schemeClr val="bg1"/>
                </a:solidFill>
                <a:effectLst/>
                <a:latin typeface="Arial" panose="020B0604020202020204" pitchFamily="34" charset="0"/>
                <a:cs typeface="Arial" panose="020B0604020202020204" pitchFamily="34" charset="0"/>
              </a:rPr>
              <a:t>Authorized testing means you have permission from the owner of the system to perform security testing.</a:t>
            </a:r>
            <a:endParaRPr lang="en-IN" sz="1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5051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EAD46CC-73E9-E617-7715-2671B07179E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E51CCD-BD69-88E1-488B-A50983FD2BDE}"/>
              </a:ext>
            </a:extLst>
          </p:cNvPr>
          <p:cNvSpPr txBox="1"/>
          <p:nvPr/>
        </p:nvSpPr>
        <p:spPr>
          <a:xfrm>
            <a:off x="1239905" y="634698"/>
            <a:ext cx="4693755" cy="2554545"/>
          </a:xfrm>
          <a:prstGeom prst="rect">
            <a:avLst/>
          </a:prstGeom>
          <a:noFill/>
        </p:spPr>
        <p:txBody>
          <a:bodyPr wrap="square">
            <a:spAutoFit/>
          </a:bodyPr>
          <a:lstStyle/>
          <a:p>
            <a:pPr>
              <a:buNone/>
            </a:pPr>
            <a:r>
              <a:rPr lang="en-IN" sz="1600" b="1" dirty="0">
                <a:solidFill>
                  <a:schemeClr val="bg1"/>
                </a:solidFill>
                <a:latin typeface="Arial" panose="020B0604020202020204" pitchFamily="34" charset="0"/>
                <a:cs typeface="Arial" panose="020B0604020202020204" pitchFamily="34" charset="0"/>
              </a:rPr>
              <a:t>1. Prepare Kali Linux</a:t>
            </a:r>
          </a:p>
          <a:p>
            <a:r>
              <a:rPr lang="en-IN" sz="1600" dirty="0">
                <a:solidFill>
                  <a:schemeClr val="bg1"/>
                </a:solidFill>
                <a:latin typeface="Arial" panose="020B0604020202020204" pitchFamily="34" charset="0"/>
                <a:cs typeface="Arial" panose="020B0604020202020204" pitchFamily="34" charset="0"/>
              </a:rPr>
              <a:t>Open Terminal:</a:t>
            </a:r>
          </a:p>
          <a:p>
            <a:pPr marL="285750" indent="-285750" rtl="0">
              <a:buFont typeface="Arial" panose="020B0604020202020204" pitchFamily="34" charset="0"/>
              <a:buChar char="•"/>
            </a:pPr>
            <a:r>
              <a:rPr lang="en-IN" sz="1600" dirty="0" err="1">
                <a:solidFill>
                  <a:schemeClr val="bg1"/>
                </a:solidFill>
                <a:latin typeface="Arial" panose="020B0604020202020204" pitchFamily="34" charset="0"/>
                <a:cs typeface="Arial" panose="020B0604020202020204" pitchFamily="34" charset="0"/>
              </a:rPr>
              <a:t>sudo</a:t>
            </a:r>
            <a:r>
              <a:rPr lang="en-IN" sz="1600" dirty="0">
                <a:solidFill>
                  <a:schemeClr val="bg1"/>
                </a:solidFill>
                <a:latin typeface="Arial" panose="020B0604020202020204" pitchFamily="34" charset="0"/>
                <a:cs typeface="Arial" panose="020B0604020202020204" pitchFamily="34" charset="0"/>
              </a:rPr>
              <a:t> apt update</a:t>
            </a:r>
          </a:p>
          <a:p>
            <a:pPr>
              <a:buNone/>
            </a:pPr>
            <a:r>
              <a:rPr lang="en-IN" sz="1600" dirty="0">
                <a:solidFill>
                  <a:schemeClr val="bg1"/>
                </a:solidFill>
                <a:latin typeface="Arial" panose="020B0604020202020204" pitchFamily="34" charset="0"/>
                <a:cs typeface="Arial" panose="020B0604020202020204" pitchFamily="34" charset="0"/>
              </a:rPr>
              <a:t>Install the required tools:</a:t>
            </a:r>
          </a:p>
          <a:p>
            <a:pPr marL="285750" indent="-285750" rtl="0">
              <a:buFont typeface="Arial" panose="020B0604020202020204" pitchFamily="34" charset="0"/>
              <a:buChar char="•"/>
            </a:pPr>
            <a:r>
              <a:rPr lang="en-IN" sz="1600" dirty="0" err="1">
                <a:solidFill>
                  <a:schemeClr val="bg1"/>
                </a:solidFill>
                <a:latin typeface="Arial" panose="020B0604020202020204" pitchFamily="34" charset="0"/>
                <a:cs typeface="Arial" panose="020B0604020202020204" pitchFamily="34" charset="0"/>
              </a:rPr>
              <a:t>sudo</a:t>
            </a:r>
            <a:r>
              <a:rPr lang="en-IN" sz="1600" dirty="0">
                <a:solidFill>
                  <a:schemeClr val="bg1"/>
                </a:solidFill>
                <a:latin typeface="Arial" panose="020B0604020202020204" pitchFamily="34" charset="0"/>
                <a:cs typeface="Arial" panose="020B0604020202020204" pitchFamily="34" charset="0"/>
              </a:rPr>
              <a:t> apt install </a:t>
            </a:r>
            <a:r>
              <a:rPr lang="en-IN" sz="1600" dirty="0" err="1">
                <a:solidFill>
                  <a:schemeClr val="bg1"/>
                </a:solidFill>
                <a:latin typeface="Arial" panose="020B0604020202020204" pitchFamily="34" charset="0"/>
                <a:cs typeface="Arial" panose="020B0604020202020204" pitchFamily="34" charset="0"/>
              </a:rPr>
              <a:t>nmap</a:t>
            </a:r>
            <a:r>
              <a:rPr lang="en-IN" sz="1600" dirty="0">
                <a:solidFill>
                  <a:schemeClr val="bg1"/>
                </a:solidFill>
                <a:latin typeface="Arial" panose="020B0604020202020204" pitchFamily="34" charset="0"/>
                <a:cs typeface="Arial" panose="020B0604020202020204" pitchFamily="34" charset="0"/>
              </a:rPr>
              <a:t> </a:t>
            </a:r>
            <a:r>
              <a:rPr lang="en-IN" sz="1600" dirty="0" err="1">
                <a:solidFill>
                  <a:schemeClr val="bg1"/>
                </a:solidFill>
                <a:latin typeface="Arial" panose="020B0604020202020204" pitchFamily="34" charset="0"/>
                <a:cs typeface="Arial" panose="020B0604020202020204" pitchFamily="34" charset="0"/>
              </a:rPr>
              <a:t>nikto</a:t>
            </a:r>
            <a:r>
              <a:rPr lang="en-IN" sz="1600" dirty="0">
                <a:solidFill>
                  <a:schemeClr val="bg1"/>
                </a:solidFill>
                <a:latin typeface="Arial" panose="020B0604020202020204" pitchFamily="34" charset="0"/>
                <a:cs typeface="Arial" panose="020B0604020202020204" pitchFamily="34" charset="0"/>
              </a:rPr>
              <a:t> burpsuite -y</a:t>
            </a:r>
          </a:p>
          <a:p>
            <a:pPr>
              <a:buNone/>
            </a:pPr>
            <a:r>
              <a:rPr lang="en-IN" sz="1600" dirty="0">
                <a:solidFill>
                  <a:schemeClr val="bg1"/>
                </a:solidFill>
                <a:latin typeface="Arial" panose="020B0604020202020204" pitchFamily="34" charset="0"/>
                <a:cs typeface="Arial" panose="020B0604020202020204" pitchFamily="34" charset="0"/>
              </a:rPr>
              <a:t>Check installation:</a:t>
            </a:r>
          </a:p>
          <a:p>
            <a:pPr marL="285750" indent="-285750" rtl="0">
              <a:buFont typeface="Arial" panose="020B0604020202020204" pitchFamily="34" charset="0"/>
              <a:buChar char="•"/>
            </a:pPr>
            <a:r>
              <a:rPr lang="en-IN" sz="1600" dirty="0" err="1">
                <a:solidFill>
                  <a:schemeClr val="bg1"/>
                </a:solidFill>
                <a:latin typeface="Arial" panose="020B0604020202020204" pitchFamily="34" charset="0"/>
                <a:cs typeface="Arial" panose="020B0604020202020204" pitchFamily="34" charset="0"/>
              </a:rPr>
              <a:t>nmap</a:t>
            </a:r>
            <a:r>
              <a:rPr lang="en-IN" sz="1600" dirty="0">
                <a:solidFill>
                  <a:schemeClr val="bg1"/>
                </a:solidFill>
                <a:latin typeface="Arial" panose="020B0604020202020204" pitchFamily="34" charset="0"/>
                <a:cs typeface="Arial" panose="020B0604020202020204" pitchFamily="34" charset="0"/>
              </a:rPr>
              <a:t> --version</a:t>
            </a:r>
          </a:p>
          <a:p>
            <a:pPr marL="285750" indent="-285750" rtl="0">
              <a:buFont typeface="Arial" panose="020B0604020202020204" pitchFamily="34" charset="0"/>
              <a:buChar char="•"/>
            </a:pPr>
            <a:r>
              <a:rPr lang="en-IN" sz="1600" dirty="0" err="1">
                <a:solidFill>
                  <a:schemeClr val="bg1"/>
                </a:solidFill>
                <a:latin typeface="Arial" panose="020B0604020202020204" pitchFamily="34" charset="0"/>
                <a:cs typeface="Arial" panose="020B0604020202020204" pitchFamily="34" charset="0"/>
              </a:rPr>
              <a:t>nikto</a:t>
            </a:r>
            <a:r>
              <a:rPr lang="en-IN" sz="1600" dirty="0">
                <a:solidFill>
                  <a:schemeClr val="bg1"/>
                </a:solidFill>
                <a:latin typeface="Arial" panose="020B0604020202020204" pitchFamily="34" charset="0"/>
                <a:cs typeface="Arial" panose="020B0604020202020204" pitchFamily="34" charset="0"/>
              </a:rPr>
              <a:t> -Version</a:t>
            </a:r>
          </a:p>
          <a:p>
            <a:pPr>
              <a:buNone/>
            </a:pPr>
            <a:r>
              <a:rPr lang="en-IN" sz="1600" dirty="0">
                <a:solidFill>
                  <a:schemeClr val="bg1"/>
                </a:solidFill>
                <a:latin typeface="Arial" panose="020B0604020202020204" pitchFamily="34" charset="0"/>
                <a:cs typeface="Arial" panose="020B0604020202020204" pitchFamily="34" charset="0"/>
              </a:rPr>
              <a:t>For Burp Suite:</a:t>
            </a:r>
          </a:p>
          <a:p>
            <a:pPr marL="285750" indent="-285750" rtl="0">
              <a:buFont typeface="Arial" panose="020B0604020202020204" pitchFamily="34" charset="0"/>
              <a:buChar char="•"/>
            </a:pPr>
            <a:r>
              <a:rPr lang="en-IN" sz="1600" dirty="0">
                <a:solidFill>
                  <a:schemeClr val="bg1"/>
                </a:solidFill>
                <a:latin typeface="Arial" panose="020B0604020202020204" pitchFamily="34" charset="0"/>
                <a:cs typeface="Arial" panose="020B0604020202020204" pitchFamily="34" charset="0"/>
              </a:rPr>
              <a:t>burpsuite</a:t>
            </a:r>
          </a:p>
        </p:txBody>
      </p:sp>
      <p:pic>
        <p:nvPicPr>
          <p:cNvPr id="7" name="Picture 6">
            <a:extLst>
              <a:ext uri="{FF2B5EF4-FFF2-40B4-BE49-F238E27FC236}">
                <a16:creationId xmlns:a16="http://schemas.microsoft.com/office/drawing/2014/main" id="{2707CA7E-438A-AC8F-FC06-95333AF9CC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8341" y="1140376"/>
            <a:ext cx="5420967" cy="15431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11565A12-6E18-3638-8293-A6156F77CE0E}"/>
              </a:ext>
            </a:extLst>
          </p:cNvPr>
          <p:cNvPicPr>
            <a:picLocks noChangeAspect="1"/>
          </p:cNvPicPr>
          <p:nvPr/>
        </p:nvPicPr>
        <p:blipFill>
          <a:blip r:embed="rId4">
            <a:extLst>
              <a:ext uri="{28A0092B-C50C-407E-A947-70E740481C1C}">
                <a14:useLocalDpi xmlns:a14="http://schemas.microsoft.com/office/drawing/2010/main" val="0"/>
              </a:ext>
            </a:extLst>
          </a:blip>
          <a:srcRect r="1110"/>
          <a:stretch>
            <a:fillRect/>
          </a:stretch>
        </p:blipFill>
        <p:spPr>
          <a:xfrm>
            <a:off x="6096000" y="3339809"/>
            <a:ext cx="5679335" cy="2377815"/>
          </a:xfrm>
          <a:prstGeom prst="rect">
            <a:avLst/>
          </a:prstGeom>
          <a:ln>
            <a:noFill/>
          </a:ln>
          <a:effectLst>
            <a:softEdge rad="112500"/>
          </a:effectLst>
        </p:spPr>
      </p:pic>
      <p:pic>
        <p:nvPicPr>
          <p:cNvPr id="11" name="Picture 10">
            <a:extLst>
              <a:ext uri="{FF2B5EF4-FFF2-40B4-BE49-F238E27FC236}">
                <a16:creationId xmlns:a16="http://schemas.microsoft.com/office/drawing/2014/main" id="{C7F5C8F3-0AC8-A5C8-EBF6-D36B3E3494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6174" y="3339809"/>
            <a:ext cx="4591749" cy="3222280"/>
          </a:xfrm>
          <a:prstGeom prst="rect">
            <a:avLst/>
          </a:prstGeom>
          <a:ln>
            <a:noFill/>
          </a:ln>
          <a:effectLst>
            <a:softEdge rad="112500"/>
          </a:effectLst>
        </p:spPr>
      </p:pic>
    </p:spTree>
    <p:extLst>
      <p:ext uri="{BB962C8B-B14F-4D97-AF65-F5344CB8AC3E}">
        <p14:creationId xmlns:p14="http://schemas.microsoft.com/office/powerpoint/2010/main" val="320210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840B80D-59B8-A59A-9B86-1B30B506855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747E7F6-BD42-6F48-C058-2B6C26CD9741}"/>
              </a:ext>
            </a:extLst>
          </p:cNvPr>
          <p:cNvSpPr txBox="1"/>
          <p:nvPr/>
        </p:nvSpPr>
        <p:spPr>
          <a:xfrm>
            <a:off x="923097" y="1095251"/>
            <a:ext cx="6097656" cy="1077218"/>
          </a:xfrm>
          <a:prstGeom prst="rect">
            <a:avLst/>
          </a:prstGeom>
          <a:noFill/>
        </p:spPr>
        <p:txBody>
          <a:bodyPr wrap="square">
            <a:spAutoFit/>
          </a:bodyPr>
          <a:lstStyle/>
          <a:p>
            <a:pPr>
              <a:buNone/>
            </a:pPr>
            <a:r>
              <a:rPr lang="en-IN" sz="1600" b="1" dirty="0">
                <a:solidFill>
                  <a:schemeClr val="bg1"/>
                </a:solidFill>
                <a:latin typeface="Arial" panose="020B0604020202020204" pitchFamily="34" charset="0"/>
                <a:cs typeface="Arial" panose="020B0604020202020204" pitchFamily="34" charset="0"/>
              </a:rPr>
              <a:t>Nmap – Network Scanning</a:t>
            </a:r>
          </a:p>
          <a:p>
            <a:pPr>
              <a:buNone/>
            </a:pPr>
            <a:r>
              <a:rPr lang="en-IN" sz="1600" dirty="0">
                <a:solidFill>
                  <a:schemeClr val="bg1"/>
                </a:solidFill>
                <a:latin typeface="Arial" panose="020B0604020202020204" pitchFamily="34" charset="0"/>
                <a:cs typeface="Arial" panose="020B0604020202020204" pitchFamily="34" charset="0"/>
              </a:rPr>
              <a:t>Target:</a:t>
            </a:r>
          </a:p>
          <a:p>
            <a:pPr rtl="0">
              <a:buNone/>
            </a:pPr>
            <a:r>
              <a:rPr lang="en-IN" sz="1600" dirty="0">
                <a:solidFill>
                  <a:schemeClr val="bg1"/>
                </a:solidFill>
                <a:latin typeface="Arial" panose="020B0604020202020204" pitchFamily="34" charset="0"/>
                <a:cs typeface="Arial" panose="020B0604020202020204" pitchFamily="34" charset="0"/>
              </a:rPr>
              <a:t>testaspnet.vulnweb.com</a:t>
            </a:r>
          </a:p>
          <a:p>
            <a:r>
              <a:rPr lang="en-IN" sz="1600" b="1" dirty="0">
                <a:solidFill>
                  <a:schemeClr val="bg1"/>
                </a:solidFill>
                <a:latin typeface="Arial" panose="020B0604020202020204" pitchFamily="34" charset="0"/>
                <a:cs typeface="Arial" panose="020B0604020202020204" pitchFamily="34" charset="0"/>
              </a:rPr>
              <a:t>Scan 1 – SYN Scan</a:t>
            </a:r>
          </a:p>
        </p:txBody>
      </p:sp>
      <p:pic>
        <p:nvPicPr>
          <p:cNvPr id="9" name="Picture 8">
            <a:extLst>
              <a:ext uri="{FF2B5EF4-FFF2-40B4-BE49-F238E27FC236}">
                <a16:creationId xmlns:a16="http://schemas.microsoft.com/office/drawing/2014/main" id="{91C7EF7A-0A13-0AC5-CBEA-1E76FC65DD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9679" y="1095251"/>
            <a:ext cx="6744641" cy="1771897"/>
          </a:xfrm>
          <a:prstGeom prst="rect">
            <a:avLst/>
          </a:prstGeom>
        </p:spPr>
      </p:pic>
      <p:pic>
        <p:nvPicPr>
          <p:cNvPr id="11" name="Picture 10">
            <a:extLst>
              <a:ext uri="{FF2B5EF4-FFF2-40B4-BE49-F238E27FC236}">
                <a16:creationId xmlns:a16="http://schemas.microsoft.com/office/drawing/2014/main" id="{A3FE6AA6-9FA2-9667-EA91-0FC8F15E34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0380" y="3743214"/>
            <a:ext cx="5924112" cy="1771897"/>
          </a:xfrm>
          <a:prstGeom prst="rect">
            <a:avLst/>
          </a:prstGeom>
        </p:spPr>
      </p:pic>
      <p:sp>
        <p:nvSpPr>
          <p:cNvPr id="13" name="TextBox 12">
            <a:extLst>
              <a:ext uri="{FF2B5EF4-FFF2-40B4-BE49-F238E27FC236}">
                <a16:creationId xmlns:a16="http://schemas.microsoft.com/office/drawing/2014/main" id="{0B5C5360-A094-C1D2-2607-9433185D5B96}"/>
              </a:ext>
            </a:extLst>
          </p:cNvPr>
          <p:cNvSpPr txBox="1"/>
          <p:nvPr/>
        </p:nvSpPr>
        <p:spPr>
          <a:xfrm>
            <a:off x="923097" y="3578250"/>
            <a:ext cx="6096000" cy="2062103"/>
          </a:xfrm>
          <a:prstGeom prst="rect">
            <a:avLst/>
          </a:prstGeom>
          <a:noFill/>
        </p:spPr>
        <p:txBody>
          <a:bodyPr wrap="square">
            <a:spAutoFit/>
          </a:bodyPr>
          <a:lstStyle/>
          <a:p>
            <a:pPr>
              <a:buNone/>
            </a:pPr>
            <a:r>
              <a:rPr lang="en-IN" sz="1600" b="1" dirty="0">
                <a:solidFill>
                  <a:schemeClr val="bg1"/>
                </a:solidFill>
                <a:latin typeface="Arial" panose="020B0604020202020204" pitchFamily="34" charset="0"/>
                <a:cs typeface="Arial" panose="020B0604020202020204" pitchFamily="34" charset="0"/>
              </a:rPr>
              <a:t>Nmap Aggressive Scan</a:t>
            </a:r>
          </a:p>
          <a:p>
            <a:pPr>
              <a:buNone/>
            </a:pPr>
            <a:r>
              <a:rPr lang="en-IN" sz="1600" dirty="0">
                <a:solidFill>
                  <a:schemeClr val="bg1"/>
                </a:solidFill>
                <a:latin typeface="Arial" panose="020B0604020202020204" pitchFamily="34" charset="0"/>
                <a:cs typeface="Arial" panose="020B0604020202020204" pitchFamily="34" charset="0"/>
              </a:rPr>
              <a:t>Run:</a:t>
            </a:r>
          </a:p>
          <a:p>
            <a:r>
              <a:rPr lang="en-IN" sz="1600" dirty="0" err="1">
                <a:solidFill>
                  <a:schemeClr val="bg1"/>
                </a:solidFill>
                <a:latin typeface="Arial" panose="020B0604020202020204" pitchFamily="34" charset="0"/>
                <a:cs typeface="Arial" panose="020B0604020202020204" pitchFamily="34" charset="0"/>
              </a:rPr>
              <a:t>nmap</a:t>
            </a:r>
            <a:r>
              <a:rPr lang="en-IN" sz="1600" dirty="0">
                <a:solidFill>
                  <a:schemeClr val="bg1"/>
                </a:solidFill>
                <a:latin typeface="Arial" panose="020B0604020202020204" pitchFamily="34" charset="0"/>
                <a:cs typeface="Arial" panose="020B0604020202020204" pitchFamily="34" charset="0"/>
              </a:rPr>
              <a:t> -A testaspnet.vulnweb.com</a:t>
            </a:r>
          </a:p>
          <a:p>
            <a:r>
              <a:rPr lang="en-IN" sz="1600" dirty="0">
                <a:solidFill>
                  <a:schemeClr val="bg1"/>
                </a:solidFill>
                <a:latin typeface="Arial" panose="020B0604020202020204" pitchFamily="34" charset="0"/>
                <a:cs typeface="Arial" panose="020B0604020202020204" pitchFamily="34" charset="0"/>
              </a:rPr>
              <a:t>-A enables several detection features, including:</a:t>
            </a:r>
          </a:p>
          <a:p>
            <a:pPr marL="342900" lvl="0" indent="-342900">
              <a:buFont typeface="Arial" panose="020B0604020202020204" pitchFamily="34" charset="0"/>
              <a:buChar char="•"/>
            </a:pPr>
            <a:r>
              <a:rPr lang="en-IN" sz="1600" dirty="0">
                <a:solidFill>
                  <a:schemeClr val="bg1"/>
                </a:solidFill>
                <a:latin typeface="Arial" panose="020B0604020202020204" pitchFamily="34" charset="0"/>
                <a:cs typeface="Arial" panose="020B0604020202020204" pitchFamily="34" charset="0"/>
              </a:rPr>
              <a:t>OS detection </a:t>
            </a:r>
          </a:p>
          <a:p>
            <a:pPr marL="342900" lvl="0" indent="-342900">
              <a:buFont typeface="Arial" panose="020B0604020202020204" pitchFamily="34" charset="0"/>
              <a:buChar char="•"/>
            </a:pPr>
            <a:r>
              <a:rPr lang="en-IN" sz="1600" dirty="0">
                <a:solidFill>
                  <a:schemeClr val="bg1"/>
                </a:solidFill>
                <a:latin typeface="Arial" panose="020B0604020202020204" pitchFamily="34" charset="0"/>
                <a:cs typeface="Arial" panose="020B0604020202020204" pitchFamily="34" charset="0"/>
              </a:rPr>
              <a:t>Service/version detection </a:t>
            </a:r>
          </a:p>
          <a:p>
            <a:pPr marL="342900" lvl="0" indent="-342900">
              <a:buFont typeface="Arial" panose="020B0604020202020204" pitchFamily="34" charset="0"/>
              <a:buChar char="•"/>
            </a:pPr>
            <a:r>
              <a:rPr lang="en-IN" sz="1600" dirty="0">
                <a:solidFill>
                  <a:schemeClr val="bg1"/>
                </a:solidFill>
                <a:latin typeface="Arial" panose="020B0604020202020204" pitchFamily="34" charset="0"/>
                <a:cs typeface="Arial" panose="020B0604020202020204" pitchFamily="34" charset="0"/>
              </a:rPr>
              <a:t>Default NSE scripts </a:t>
            </a:r>
          </a:p>
          <a:p>
            <a:pPr marL="342900" lvl="0" indent="-342900">
              <a:buFont typeface="Arial" panose="020B0604020202020204" pitchFamily="34" charset="0"/>
              <a:buChar char="•"/>
            </a:pPr>
            <a:r>
              <a:rPr lang="en-IN" sz="1600" dirty="0">
                <a:solidFill>
                  <a:schemeClr val="bg1"/>
                </a:solidFill>
                <a:latin typeface="Arial" panose="020B0604020202020204" pitchFamily="34" charset="0"/>
                <a:cs typeface="Arial" panose="020B0604020202020204" pitchFamily="34" charset="0"/>
              </a:rPr>
              <a:t>Traceroute</a:t>
            </a:r>
          </a:p>
        </p:txBody>
      </p:sp>
    </p:spTree>
    <p:extLst>
      <p:ext uri="{BB962C8B-B14F-4D97-AF65-F5344CB8AC3E}">
        <p14:creationId xmlns:p14="http://schemas.microsoft.com/office/powerpoint/2010/main" val="1840413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81B4A47-F523-FE2E-4DBD-64072A71B83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0B1885D-C850-157D-87B2-0F0FA38DDC49}"/>
              </a:ext>
            </a:extLst>
          </p:cNvPr>
          <p:cNvSpPr txBox="1"/>
          <p:nvPr/>
        </p:nvSpPr>
        <p:spPr>
          <a:xfrm>
            <a:off x="638175" y="1777127"/>
            <a:ext cx="6096000" cy="2554545"/>
          </a:xfrm>
          <a:prstGeom prst="rect">
            <a:avLst/>
          </a:prstGeom>
          <a:noFill/>
        </p:spPr>
        <p:txBody>
          <a:bodyPr wrap="square">
            <a:spAutoFit/>
          </a:bodyPr>
          <a:lstStyle/>
          <a:p>
            <a:pPr>
              <a:buNone/>
            </a:pPr>
            <a:r>
              <a:rPr lang="en-IN" sz="1600" dirty="0">
                <a:solidFill>
                  <a:schemeClr val="bg1"/>
                </a:solidFill>
                <a:latin typeface="Arial" panose="020B0604020202020204" pitchFamily="34" charset="0"/>
                <a:cs typeface="Arial" panose="020B0604020202020204" pitchFamily="34" charset="0"/>
              </a:rPr>
              <a:t>Nikto – Web Vulnerability Scan</a:t>
            </a:r>
          </a:p>
          <a:p>
            <a:pPr>
              <a:buNone/>
            </a:pPr>
            <a:r>
              <a:rPr lang="en-IN" sz="1600" dirty="0">
                <a:solidFill>
                  <a:schemeClr val="bg1"/>
                </a:solidFill>
                <a:latin typeface="Arial" panose="020B0604020202020204" pitchFamily="34" charset="0"/>
                <a:cs typeface="Arial" panose="020B0604020202020204" pitchFamily="34" charset="0"/>
              </a:rPr>
              <a:t>Start Nikto:</a:t>
            </a:r>
          </a:p>
          <a:p>
            <a:r>
              <a:rPr lang="en-IN" sz="1600" dirty="0" err="1">
                <a:solidFill>
                  <a:schemeClr val="bg1"/>
                </a:solidFill>
                <a:latin typeface="Arial" panose="020B0604020202020204" pitchFamily="34" charset="0"/>
                <a:cs typeface="Arial" panose="020B0604020202020204" pitchFamily="34" charset="0"/>
              </a:rPr>
              <a:t>nikto</a:t>
            </a:r>
            <a:r>
              <a:rPr lang="en-IN" sz="1600" dirty="0">
                <a:solidFill>
                  <a:schemeClr val="bg1"/>
                </a:solidFill>
                <a:latin typeface="Arial" panose="020B0604020202020204" pitchFamily="34" charset="0"/>
                <a:cs typeface="Arial" panose="020B0604020202020204" pitchFamily="34" charset="0"/>
              </a:rPr>
              <a:t> -h http://testaspnet.vulnweb.com</a:t>
            </a:r>
          </a:p>
          <a:p>
            <a:endParaRPr lang="en-IN" sz="1600" dirty="0">
              <a:solidFill>
                <a:schemeClr val="bg1"/>
              </a:solidFill>
              <a:latin typeface="Arial" panose="020B0604020202020204" pitchFamily="34" charset="0"/>
              <a:cs typeface="Arial" panose="020B0604020202020204" pitchFamily="34" charset="0"/>
            </a:endParaRPr>
          </a:p>
          <a:p>
            <a:pPr>
              <a:buNone/>
            </a:pPr>
            <a:r>
              <a:rPr lang="en-IN" sz="1600" dirty="0">
                <a:solidFill>
                  <a:schemeClr val="bg1"/>
                </a:solidFill>
                <a:latin typeface="Arial" panose="020B0604020202020204" pitchFamily="34" charset="0"/>
                <a:cs typeface="Arial" panose="020B0604020202020204" pitchFamily="34" charset="0"/>
              </a:rPr>
              <a:t>Nikto checks the web server for things such as:</a:t>
            </a:r>
          </a:p>
          <a:p>
            <a:pPr marL="342900" lvl="0" indent="-342900">
              <a:buFont typeface="Arial" panose="020B0604020202020204" pitchFamily="34" charset="0"/>
              <a:buChar char="•"/>
            </a:pPr>
            <a:r>
              <a:rPr lang="en-IN" sz="1600" dirty="0">
                <a:solidFill>
                  <a:schemeClr val="bg1"/>
                </a:solidFill>
                <a:latin typeface="Arial" panose="020B0604020202020204" pitchFamily="34" charset="0"/>
                <a:cs typeface="Arial" panose="020B0604020202020204" pitchFamily="34" charset="0"/>
              </a:rPr>
              <a:t>Interesting files/directories </a:t>
            </a:r>
          </a:p>
          <a:p>
            <a:pPr marL="342900" lvl="0" indent="-342900">
              <a:buFont typeface="Arial" panose="020B0604020202020204" pitchFamily="34" charset="0"/>
              <a:buChar char="•"/>
            </a:pPr>
            <a:r>
              <a:rPr lang="en-IN" sz="1600" dirty="0">
                <a:solidFill>
                  <a:schemeClr val="bg1"/>
                </a:solidFill>
                <a:latin typeface="Arial" panose="020B0604020202020204" pitchFamily="34" charset="0"/>
                <a:cs typeface="Arial" panose="020B0604020202020204" pitchFamily="34" charset="0"/>
              </a:rPr>
              <a:t>Server configuration issues </a:t>
            </a:r>
          </a:p>
          <a:p>
            <a:pPr marL="342900" lvl="0" indent="-342900">
              <a:buFont typeface="Arial" panose="020B0604020202020204" pitchFamily="34" charset="0"/>
              <a:buChar char="•"/>
            </a:pPr>
            <a:r>
              <a:rPr lang="en-IN" sz="1600" dirty="0">
                <a:solidFill>
                  <a:schemeClr val="bg1"/>
                </a:solidFill>
                <a:latin typeface="Arial" panose="020B0604020202020204" pitchFamily="34" charset="0"/>
                <a:cs typeface="Arial" panose="020B0604020202020204" pitchFamily="34" charset="0"/>
              </a:rPr>
              <a:t>Missing security headers </a:t>
            </a:r>
          </a:p>
          <a:p>
            <a:pPr marL="342900" lvl="0" indent="-342900">
              <a:buFont typeface="Arial" panose="020B0604020202020204" pitchFamily="34" charset="0"/>
              <a:buChar char="•"/>
            </a:pPr>
            <a:r>
              <a:rPr lang="en-IN" sz="1600" dirty="0">
                <a:solidFill>
                  <a:schemeClr val="bg1"/>
                </a:solidFill>
                <a:latin typeface="Arial" panose="020B0604020202020204" pitchFamily="34" charset="0"/>
                <a:cs typeface="Arial" panose="020B0604020202020204" pitchFamily="34" charset="0"/>
              </a:rPr>
              <a:t>Known web-server issues </a:t>
            </a:r>
          </a:p>
          <a:p>
            <a:pPr marL="342900" lvl="0" indent="-342900">
              <a:buFont typeface="Arial" panose="020B0604020202020204" pitchFamily="34" charset="0"/>
              <a:buChar char="•"/>
            </a:pPr>
            <a:r>
              <a:rPr lang="en-IN" sz="1600" dirty="0">
                <a:solidFill>
                  <a:schemeClr val="bg1"/>
                </a:solidFill>
                <a:latin typeface="Arial" panose="020B0604020202020204" pitchFamily="34" charset="0"/>
                <a:cs typeface="Arial" panose="020B0604020202020204" pitchFamily="34" charset="0"/>
              </a:rPr>
              <a:t>Potentially exposed information</a:t>
            </a:r>
          </a:p>
        </p:txBody>
      </p:sp>
      <p:pic>
        <p:nvPicPr>
          <p:cNvPr id="7" name="Picture 6">
            <a:extLst>
              <a:ext uri="{FF2B5EF4-FFF2-40B4-BE49-F238E27FC236}">
                <a16:creationId xmlns:a16="http://schemas.microsoft.com/office/drawing/2014/main" id="{6CF8ACE7-86EF-4050-F89A-855A13637A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43777"/>
            <a:ext cx="5657553" cy="3986546"/>
          </a:xfrm>
          <a:prstGeom prst="rect">
            <a:avLst/>
          </a:prstGeom>
        </p:spPr>
      </p:pic>
    </p:spTree>
    <p:extLst>
      <p:ext uri="{BB962C8B-B14F-4D97-AF65-F5344CB8AC3E}">
        <p14:creationId xmlns:p14="http://schemas.microsoft.com/office/powerpoint/2010/main" val="3233665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1CF3D1D-BED4-03DF-D2EF-C8DFCE79EDC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EA046C6-A217-6B3E-99D5-687CB9B66F8F}"/>
              </a:ext>
            </a:extLst>
          </p:cNvPr>
          <p:cNvSpPr txBox="1"/>
          <p:nvPr/>
        </p:nvSpPr>
        <p:spPr>
          <a:xfrm>
            <a:off x="647700" y="662107"/>
            <a:ext cx="6096000" cy="1200329"/>
          </a:xfrm>
          <a:prstGeom prst="rect">
            <a:avLst/>
          </a:prstGeom>
          <a:noFill/>
        </p:spPr>
        <p:txBody>
          <a:bodyPr wrap="square">
            <a:spAutoFit/>
          </a:bodyPr>
          <a:lstStyle/>
          <a:p>
            <a:pPr>
              <a:buNone/>
            </a:pPr>
            <a:r>
              <a:rPr lang="en-IN" sz="1200" b="1" dirty="0">
                <a:solidFill>
                  <a:schemeClr val="bg1"/>
                </a:solidFill>
                <a:latin typeface="Arial" panose="020B0604020202020204" pitchFamily="34" charset="0"/>
                <a:cs typeface="Arial" panose="020B0604020202020204" pitchFamily="34" charset="0"/>
              </a:rPr>
              <a:t>Burp Suite</a:t>
            </a:r>
          </a:p>
          <a:p>
            <a:pPr>
              <a:buNone/>
            </a:pPr>
            <a:r>
              <a:rPr lang="en-IN" sz="1200" dirty="0">
                <a:solidFill>
                  <a:schemeClr val="bg1"/>
                </a:solidFill>
                <a:latin typeface="Arial" panose="020B0604020202020204" pitchFamily="34" charset="0"/>
                <a:cs typeface="Arial" panose="020B0604020202020204" pitchFamily="34" charset="0"/>
              </a:rPr>
              <a:t>Now perform the third part.</a:t>
            </a:r>
          </a:p>
          <a:p>
            <a:pPr>
              <a:buNone/>
            </a:pPr>
            <a:r>
              <a:rPr lang="en-IN" sz="1200" dirty="0">
                <a:solidFill>
                  <a:schemeClr val="bg1"/>
                </a:solidFill>
                <a:latin typeface="Arial" panose="020B0604020202020204" pitchFamily="34" charset="0"/>
                <a:cs typeface="Arial" panose="020B0604020202020204" pitchFamily="34" charset="0"/>
              </a:rPr>
              <a:t>Start Burp:</a:t>
            </a:r>
          </a:p>
          <a:p>
            <a:pPr marL="285750" indent="-285750" rtl="0">
              <a:buFont typeface="Arial" panose="020B0604020202020204" pitchFamily="34" charset="0"/>
              <a:buChar char="•"/>
            </a:pPr>
            <a:r>
              <a:rPr lang="en-IN" sz="1200" dirty="0">
                <a:solidFill>
                  <a:schemeClr val="bg1"/>
                </a:solidFill>
                <a:latin typeface="Arial" panose="020B0604020202020204" pitchFamily="34" charset="0"/>
                <a:cs typeface="Arial" panose="020B0604020202020204" pitchFamily="34" charset="0"/>
              </a:rPr>
              <a:t>burpsuite</a:t>
            </a:r>
          </a:p>
          <a:p>
            <a:pPr>
              <a:buNone/>
            </a:pPr>
            <a:r>
              <a:rPr lang="en-IN" sz="1200" dirty="0">
                <a:solidFill>
                  <a:schemeClr val="bg1"/>
                </a:solidFill>
                <a:latin typeface="Arial" panose="020B0604020202020204" pitchFamily="34" charset="0"/>
                <a:cs typeface="Arial" panose="020B0604020202020204" pitchFamily="34" charset="0"/>
              </a:rPr>
              <a:t>Choose:</a:t>
            </a:r>
          </a:p>
          <a:p>
            <a:pPr>
              <a:buNone/>
            </a:pPr>
            <a:r>
              <a:rPr lang="en-IN" sz="1200" dirty="0">
                <a:solidFill>
                  <a:schemeClr val="bg1"/>
                </a:solidFill>
                <a:latin typeface="Arial" panose="020B0604020202020204" pitchFamily="34" charset="0"/>
                <a:cs typeface="Arial" panose="020B0604020202020204" pitchFamily="34" charset="0"/>
              </a:rPr>
              <a:t>Temporary Project → Next → Use Burp Defaults → Start Burp</a:t>
            </a:r>
          </a:p>
        </p:txBody>
      </p:sp>
      <p:sp>
        <p:nvSpPr>
          <p:cNvPr id="7" name="TextBox 6">
            <a:extLst>
              <a:ext uri="{FF2B5EF4-FFF2-40B4-BE49-F238E27FC236}">
                <a16:creationId xmlns:a16="http://schemas.microsoft.com/office/drawing/2014/main" id="{4092B75D-E7AD-144C-F979-CC063DA8AE84}"/>
              </a:ext>
            </a:extLst>
          </p:cNvPr>
          <p:cNvSpPr txBox="1"/>
          <p:nvPr/>
        </p:nvSpPr>
        <p:spPr>
          <a:xfrm>
            <a:off x="647700" y="2062515"/>
            <a:ext cx="6096000" cy="1754326"/>
          </a:xfrm>
          <a:prstGeom prst="rect">
            <a:avLst/>
          </a:prstGeom>
          <a:noFill/>
        </p:spPr>
        <p:txBody>
          <a:bodyPr wrap="square">
            <a:spAutoFit/>
          </a:bodyPr>
          <a:lstStyle/>
          <a:p>
            <a:pPr indent="0" algn="l" rtl="0">
              <a:buNone/>
            </a:pPr>
            <a:r>
              <a:rPr lang="en-IN" sz="1200" b="1" i="0" dirty="0">
                <a:solidFill>
                  <a:schemeClr val="bg1"/>
                </a:solidFill>
                <a:effectLst/>
                <a:latin typeface="Arial" panose="020B0604020202020204" pitchFamily="34" charset="0"/>
                <a:cs typeface="Arial" panose="020B0604020202020204" pitchFamily="34" charset="0"/>
              </a:rPr>
              <a:t>Configure Burp Suite Browser</a:t>
            </a:r>
          </a:p>
          <a:p>
            <a:pPr marL="171450" indent="-171450" algn="l" rtl="0">
              <a:buFont typeface="Arial" panose="020B0604020202020204" pitchFamily="34" charset="0"/>
              <a:buChar char="•"/>
            </a:pPr>
            <a:r>
              <a:rPr lang="en-IN" sz="1200" i="0" dirty="0">
                <a:solidFill>
                  <a:schemeClr val="bg1"/>
                </a:solidFill>
                <a:effectLst/>
                <a:latin typeface="Arial" panose="020B0604020202020204" pitchFamily="34" charset="0"/>
                <a:cs typeface="Arial" panose="020B0604020202020204" pitchFamily="34" charset="0"/>
              </a:rPr>
              <a:t>I opened Burp Suite and used its built-in browser, so I did not need to configure Firefox manually.</a:t>
            </a:r>
          </a:p>
          <a:p>
            <a:pPr indent="0" algn="l" rtl="0">
              <a:buNone/>
            </a:pPr>
            <a:r>
              <a:rPr lang="en-IN" sz="1200" i="0" dirty="0">
                <a:solidFill>
                  <a:schemeClr val="bg1"/>
                </a:solidFill>
                <a:effectLst/>
                <a:latin typeface="Arial" panose="020B0604020202020204" pitchFamily="34" charset="0"/>
                <a:cs typeface="Arial" panose="020B0604020202020204" pitchFamily="34" charset="0"/>
              </a:rPr>
              <a:t>In Burp Suite, I checked:</a:t>
            </a:r>
          </a:p>
          <a:p>
            <a:pPr marL="171450" indent="-171450" algn="l" rtl="0">
              <a:buFont typeface="Arial" panose="020B0604020202020204" pitchFamily="34" charset="0"/>
              <a:buChar char="•"/>
            </a:pPr>
            <a:r>
              <a:rPr lang="en-IN" sz="1200" i="0" dirty="0">
                <a:solidFill>
                  <a:schemeClr val="bg1"/>
                </a:solidFill>
                <a:effectLst/>
                <a:latin typeface="Arial" panose="020B0604020202020204" pitchFamily="34" charset="0"/>
                <a:cs typeface="Arial" panose="020B0604020202020204" pitchFamily="34" charset="0"/>
              </a:rPr>
              <a:t>Proxy → Proxy settings</a:t>
            </a:r>
          </a:p>
          <a:p>
            <a:pPr indent="0" algn="l" rtl="0">
              <a:buNone/>
            </a:pPr>
            <a:r>
              <a:rPr lang="en-IN" sz="1200" i="0" dirty="0">
                <a:solidFill>
                  <a:schemeClr val="bg1"/>
                </a:solidFill>
                <a:effectLst/>
                <a:latin typeface="Arial" panose="020B0604020202020204" pitchFamily="34" charset="0"/>
                <a:cs typeface="Arial" panose="020B0604020202020204" pitchFamily="34" charset="0"/>
              </a:rPr>
              <a:t>The proxy listener was running on:</a:t>
            </a:r>
          </a:p>
          <a:p>
            <a:pPr marL="171450" indent="-171450" algn="l">
              <a:buFont typeface="Arial" panose="020B0604020202020204" pitchFamily="34" charset="0"/>
              <a:buChar char="•"/>
            </a:pPr>
            <a:r>
              <a:rPr lang="en-IN" sz="1200" i="0" dirty="0">
                <a:solidFill>
                  <a:schemeClr val="bg1"/>
                </a:solidFill>
                <a:effectLst/>
                <a:latin typeface="Arial" panose="020B0604020202020204" pitchFamily="34" charset="0"/>
                <a:cs typeface="Arial" panose="020B0604020202020204" pitchFamily="34" charset="0"/>
              </a:rPr>
              <a:t>127.0.0.1:8080</a:t>
            </a:r>
          </a:p>
          <a:p>
            <a:pPr indent="0" algn="l" rtl="0">
              <a:buNone/>
            </a:pPr>
            <a:r>
              <a:rPr lang="en-IN" sz="1200" i="0" dirty="0">
                <a:solidFill>
                  <a:schemeClr val="bg1"/>
                </a:solidFill>
                <a:effectLst/>
                <a:latin typeface="Arial" panose="020B0604020202020204" pitchFamily="34" charset="0"/>
                <a:cs typeface="Arial" panose="020B0604020202020204" pitchFamily="34" charset="0"/>
              </a:rPr>
              <a:t>I then opened Burp's built-in browser and visited:</a:t>
            </a:r>
          </a:p>
          <a:p>
            <a:r>
              <a:rPr lang="en-IN" sz="1200" i="0" dirty="0">
                <a:solidFill>
                  <a:schemeClr val="bg1"/>
                </a:solidFill>
                <a:effectLst/>
                <a:latin typeface="Arial" panose="020B0604020202020204" pitchFamily="34" charset="0"/>
                <a:cs typeface="Arial" panose="020B0604020202020204" pitchFamily="34" charset="0"/>
              </a:rPr>
              <a:t>http://</a:t>
            </a:r>
            <a:r>
              <a:rPr lang="en-IN" sz="1200" dirty="0">
                <a:solidFill>
                  <a:schemeClr val="bg1"/>
                </a:solidFill>
                <a:latin typeface="Arial" panose="020B0604020202020204" pitchFamily="34" charset="0"/>
                <a:cs typeface="Arial" panose="020B0604020202020204" pitchFamily="34" charset="0"/>
              </a:rPr>
              <a:t>testaspnet.vulnweb.com</a:t>
            </a:r>
            <a:endParaRPr lang="en-IN" sz="1200" dirty="0">
              <a:solidFill>
                <a:schemeClr val="bg1"/>
              </a:solidFill>
              <a:effectLst/>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044BCD86-7E34-C96F-F358-F1DA60F9BDEB}"/>
              </a:ext>
            </a:extLst>
          </p:cNvPr>
          <p:cNvSpPr txBox="1"/>
          <p:nvPr/>
        </p:nvSpPr>
        <p:spPr>
          <a:xfrm>
            <a:off x="647700" y="4001507"/>
            <a:ext cx="5857875" cy="2308324"/>
          </a:xfrm>
          <a:prstGeom prst="rect">
            <a:avLst/>
          </a:prstGeom>
          <a:noFill/>
        </p:spPr>
        <p:txBody>
          <a:bodyPr wrap="square">
            <a:spAutoFit/>
          </a:bodyPr>
          <a:lstStyle/>
          <a:p>
            <a:r>
              <a:rPr lang="en-IN" sz="1200" dirty="0">
                <a:solidFill>
                  <a:schemeClr val="bg1"/>
                </a:solidFill>
                <a:latin typeface="Arial" panose="020B0604020202020204" pitchFamily="34" charset="0"/>
                <a:cs typeface="Arial" panose="020B0604020202020204" pitchFamily="34" charset="0"/>
              </a:rPr>
              <a:t>I looked at the following parts of the request:</a:t>
            </a:r>
          </a:p>
          <a:p>
            <a:pPr marL="285750" lvl="0" indent="-285750">
              <a:buFont typeface="Arial" panose="020B0604020202020204" pitchFamily="34" charset="0"/>
              <a:buChar char="•"/>
            </a:pPr>
            <a:r>
              <a:rPr lang="en-IN" sz="1200" dirty="0">
                <a:solidFill>
                  <a:schemeClr val="bg1"/>
                </a:solidFill>
                <a:latin typeface="Arial" panose="020B0604020202020204" pitchFamily="34" charset="0"/>
                <a:cs typeface="Arial" panose="020B0604020202020204" pitchFamily="34" charset="0"/>
              </a:rPr>
              <a:t>Method: Shows what action the browser is requesting, such as GET or POST.</a:t>
            </a:r>
          </a:p>
          <a:p>
            <a:pPr marL="285750" lvl="0" indent="-285750">
              <a:buFont typeface="Arial" panose="020B0604020202020204" pitchFamily="34" charset="0"/>
              <a:buChar char="•"/>
            </a:pPr>
            <a:r>
              <a:rPr lang="en-IN" sz="1200" dirty="0">
                <a:solidFill>
                  <a:schemeClr val="bg1"/>
                </a:solidFill>
                <a:latin typeface="Arial" panose="020B0604020202020204" pitchFamily="34" charset="0"/>
                <a:cs typeface="Arial" panose="020B0604020202020204" pitchFamily="34" charset="0"/>
              </a:rPr>
              <a:t>Path/URL: Shows which page or resource is being requested.</a:t>
            </a:r>
          </a:p>
          <a:p>
            <a:pPr marL="285750" lvl="0" indent="-285750">
              <a:buFont typeface="Arial" panose="020B0604020202020204" pitchFamily="34" charset="0"/>
              <a:buChar char="•"/>
            </a:pPr>
            <a:r>
              <a:rPr lang="en-IN" sz="1200" dirty="0">
                <a:solidFill>
                  <a:schemeClr val="bg1"/>
                </a:solidFill>
                <a:latin typeface="Arial" panose="020B0604020202020204" pitchFamily="34" charset="0"/>
                <a:cs typeface="Arial" panose="020B0604020202020204" pitchFamily="34" charset="0"/>
              </a:rPr>
              <a:t>Host: Shows the website being contacted.</a:t>
            </a:r>
          </a:p>
          <a:p>
            <a:pPr marL="285750" lvl="0" indent="-285750">
              <a:buFont typeface="Arial" panose="020B0604020202020204" pitchFamily="34" charset="0"/>
              <a:buChar char="•"/>
            </a:pPr>
            <a:r>
              <a:rPr lang="en-IN" sz="1200" dirty="0">
                <a:solidFill>
                  <a:schemeClr val="bg1"/>
                </a:solidFill>
                <a:latin typeface="Arial" panose="020B0604020202020204" pitchFamily="34" charset="0"/>
                <a:cs typeface="Arial" panose="020B0604020202020204" pitchFamily="34" charset="0"/>
              </a:rPr>
              <a:t>Headers: Provide extra information about the browser and request.</a:t>
            </a:r>
          </a:p>
          <a:p>
            <a:pPr marL="285750" lvl="0" indent="-285750">
              <a:buFont typeface="Arial" panose="020B0604020202020204" pitchFamily="34" charset="0"/>
              <a:buChar char="•"/>
            </a:pPr>
            <a:r>
              <a:rPr lang="en-IN" sz="1200" dirty="0">
                <a:solidFill>
                  <a:schemeClr val="bg1"/>
                </a:solidFill>
                <a:latin typeface="Arial" panose="020B0604020202020204" pitchFamily="34" charset="0"/>
                <a:cs typeface="Arial" panose="020B0604020202020204" pitchFamily="34" charset="0"/>
              </a:rPr>
              <a:t>Cookies: Can contain information used to maintain a session.</a:t>
            </a:r>
          </a:p>
          <a:p>
            <a:pPr indent="0" algn="l" rtl="0">
              <a:buNone/>
            </a:pPr>
            <a:r>
              <a:rPr lang="en-IN" sz="1200" i="0" dirty="0">
                <a:solidFill>
                  <a:schemeClr val="bg1"/>
                </a:solidFill>
                <a:effectLst/>
                <a:latin typeface="Arial" panose="020B0604020202020204" pitchFamily="34" charset="0"/>
                <a:cs typeface="Arial" panose="020B0604020202020204" pitchFamily="34" charset="0"/>
              </a:rPr>
              <a:t>Capture HTTP Requests</a:t>
            </a:r>
          </a:p>
          <a:p>
            <a:pPr indent="0" algn="l" rtl="0">
              <a:buNone/>
            </a:pPr>
            <a:r>
              <a:rPr lang="en-IN" sz="1200" i="0" dirty="0">
                <a:solidFill>
                  <a:schemeClr val="bg1"/>
                </a:solidFill>
                <a:effectLst/>
                <a:latin typeface="Arial" panose="020B0604020202020204" pitchFamily="34" charset="0"/>
                <a:cs typeface="Arial" panose="020B0604020202020204" pitchFamily="34" charset="0"/>
              </a:rPr>
              <a:t>I went to:</a:t>
            </a:r>
          </a:p>
          <a:p>
            <a:pPr marL="285750" indent="-285750" algn="l" rtl="0">
              <a:buFont typeface="Arial" panose="020B0604020202020204" pitchFamily="34" charset="0"/>
              <a:buChar char="•"/>
            </a:pPr>
            <a:r>
              <a:rPr lang="en-IN" sz="1200" i="0" dirty="0">
                <a:solidFill>
                  <a:schemeClr val="bg1"/>
                </a:solidFill>
                <a:effectLst/>
                <a:latin typeface="Arial" panose="020B0604020202020204" pitchFamily="34" charset="0"/>
                <a:cs typeface="Arial" panose="020B0604020202020204" pitchFamily="34" charset="0"/>
              </a:rPr>
              <a:t>Proxy → Intercept</a:t>
            </a:r>
          </a:p>
          <a:p>
            <a:pPr marL="285750" indent="-285750" algn="l" rtl="0">
              <a:buFont typeface="Arial" panose="020B0604020202020204" pitchFamily="34" charset="0"/>
              <a:buChar char="•"/>
            </a:pPr>
            <a:r>
              <a:rPr lang="en-IN" sz="1200" i="0" dirty="0">
                <a:solidFill>
                  <a:schemeClr val="bg1"/>
                </a:solidFill>
                <a:effectLst/>
                <a:latin typeface="Arial" panose="020B0604020202020204" pitchFamily="34" charset="0"/>
                <a:cs typeface="Arial" panose="020B0604020202020204" pitchFamily="34" charset="0"/>
              </a:rPr>
              <a:t>Turned Intercept ON.</a:t>
            </a:r>
          </a:p>
          <a:p>
            <a:pPr indent="0" algn="l" rtl="0">
              <a:buNone/>
            </a:pPr>
            <a:r>
              <a:rPr lang="en-IN" sz="1200" i="0" dirty="0">
                <a:solidFill>
                  <a:schemeClr val="bg1"/>
                </a:solidFill>
                <a:effectLst/>
                <a:latin typeface="Arial" panose="020B0604020202020204" pitchFamily="34" charset="0"/>
                <a:cs typeface="Arial" panose="020B0604020202020204" pitchFamily="34" charset="0"/>
              </a:rPr>
              <a:t>I visited different pages on the authorized training website. Burp Suite captured the HTTP requests sent by the browser.</a:t>
            </a:r>
          </a:p>
        </p:txBody>
      </p:sp>
      <p:pic>
        <p:nvPicPr>
          <p:cNvPr id="11" name="Picture 10">
            <a:extLst>
              <a:ext uri="{FF2B5EF4-FFF2-40B4-BE49-F238E27FC236}">
                <a16:creationId xmlns:a16="http://schemas.microsoft.com/office/drawing/2014/main" id="{976C5465-1BD1-9619-7E2F-B07B3DB245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5650" y="4001507"/>
            <a:ext cx="4739939" cy="2437135"/>
          </a:xfrm>
          <a:prstGeom prst="rect">
            <a:avLst/>
          </a:prstGeom>
        </p:spPr>
      </p:pic>
      <p:pic>
        <p:nvPicPr>
          <p:cNvPr id="13" name="Picture 12">
            <a:extLst>
              <a:ext uri="{FF2B5EF4-FFF2-40B4-BE49-F238E27FC236}">
                <a16:creationId xmlns:a16="http://schemas.microsoft.com/office/drawing/2014/main" id="{3385719B-B83F-6C95-61D6-5451C4000C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5650" y="303937"/>
            <a:ext cx="4293833" cy="3453338"/>
          </a:xfrm>
          <a:prstGeom prst="rect">
            <a:avLst/>
          </a:prstGeom>
        </p:spPr>
      </p:pic>
    </p:spTree>
    <p:extLst>
      <p:ext uri="{BB962C8B-B14F-4D97-AF65-F5344CB8AC3E}">
        <p14:creationId xmlns:p14="http://schemas.microsoft.com/office/powerpoint/2010/main" val="3309028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21D3B63-D84A-966A-B4DD-D630B24E17B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8278F8A-3849-CCC8-4FC5-BEF85FB48A06}"/>
              </a:ext>
            </a:extLst>
          </p:cNvPr>
          <p:cNvGraphicFramePr>
            <a:graphicFrameLocks noGrp="1"/>
          </p:cNvGraphicFramePr>
          <p:nvPr>
            <p:extLst>
              <p:ext uri="{D42A27DB-BD31-4B8C-83A1-F6EECF244321}">
                <p14:modId xmlns:p14="http://schemas.microsoft.com/office/powerpoint/2010/main" val="1556280245"/>
              </p:ext>
            </p:extLst>
          </p:nvPr>
        </p:nvGraphicFramePr>
        <p:xfrm>
          <a:off x="1771650" y="3593624"/>
          <a:ext cx="8963027" cy="2499360"/>
        </p:xfrm>
        <a:graphic>
          <a:graphicData uri="http://schemas.openxmlformats.org/drawingml/2006/table">
            <a:tbl>
              <a:tblPr>
                <a:tableStyleId>{5C22544A-7EE6-4342-B048-85BDC9FD1C3A}</a:tableStyleId>
              </a:tblPr>
              <a:tblGrid>
                <a:gridCol w="982361">
                  <a:extLst>
                    <a:ext uri="{9D8B030D-6E8A-4147-A177-3AD203B41FA5}">
                      <a16:colId xmlns:a16="http://schemas.microsoft.com/office/drawing/2014/main" val="4152469044"/>
                    </a:ext>
                  </a:extLst>
                </a:gridCol>
                <a:gridCol w="982361">
                  <a:extLst>
                    <a:ext uri="{9D8B030D-6E8A-4147-A177-3AD203B41FA5}">
                      <a16:colId xmlns:a16="http://schemas.microsoft.com/office/drawing/2014/main" val="1092191981"/>
                    </a:ext>
                  </a:extLst>
                </a:gridCol>
                <a:gridCol w="2192045">
                  <a:extLst>
                    <a:ext uri="{9D8B030D-6E8A-4147-A177-3AD203B41FA5}">
                      <a16:colId xmlns:a16="http://schemas.microsoft.com/office/drawing/2014/main" val="1205014091"/>
                    </a:ext>
                  </a:extLst>
                </a:gridCol>
                <a:gridCol w="1477600">
                  <a:extLst>
                    <a:ext uri="{9D8B030D-6E8A-4147-A177-3AD203B41FA5}">
                      <a16:colId xmlns:a16="http://schemas.microsoft.com/office/drawing/2014/main" val="2008362224"/>
                    </a:ext>
                  </a:extLst>
                </a:gridCol>
                <a:gridCol w="1501956">
                  <a:extLst>
                    <a:ext uri="{9D8B030D-6E8A-4147-A177-3AD203B41FA5}">
                      <a16:colId xmlns:a16="http://schemas.microsoft.com/office/drawing/2014/main" val="1288818852"/>
                    </a:ext>
                  </a:extLst>
                </a:gridCol>
                <a:gridCol w="1826704">
                  <a:extLst>
                    <a:ext uri="{9D8B030D-6E8A-4147-A177-3AD203B41FA5}">
                      <a16:colId xmlns:a16="http://schemas.microsoft.com/office/drawing/2014/main" val="1471064764"/>
                    </a:ext>
                  </a:extLst>
                </a:gridCol>
              </a:tblGrid>
              <a:tr h="270870">
                <a:tc>
                  <a:txBody>
                    <a:bodyPr/>
                    <a:lstStyle/>
                    <a:p>
                      <a:pPr>
                        <a:buNone/>
                      </a:pPr>
                      <a:r>
                        <a:rPr lang="en-IN" sz="1400" dirty="0">
                          <a:solidFill>
                            <a:schemeClr val="bg1"/>
                          </a:solidFill>
                          <a:latin typeface="Arial" panose="020B0604020202020204" pitchFamily="34" charset="0"/>
                          <a:cs typeface="Arial" panose="020B0604020202020204" pitchFamily="34" charset="0"/>
                        </a:rPr>
                        <a:t>ID</a:t>
                      </a:r>
                    </a:p>
                  </a:txBody>
                  <a:tcPr anchor="ctr">
                    <a:solidFill>
                      <a:schemeClr val="bg2">
                        <a:lumMod val="50000"/>
                      </a:schemeClr>
                    </a:solidFill>
                  </a:tcPr>
                </a:tc>
                <a:tc>
                  <a:txBody>
                    <a:bodyPr/>
                    <a:lstStyle/>
                    <a:p>
                      <a:pPr>
                        <a:buNone/>
                      </a:pPr>
                      <a:r>
                        <a:rPr lang="en-IN" sz="1400">
                          <a:solidFill>
                            <a:schemeClr val="bg1"/>
                          </a:solidFill>
                          <a:latin typeface="Arial" panose="020B0604020202020204" pitchFamily="34" charset="0"/>
                          <a:cs typeface="Arial" panose="020B0604020202020204" pitchFamily="34" charset="0"/>
                        </a:rPr>
                        <a:t>Tool</a:t>
                      </a:r>
                    </a:p>
                  </a:txBody>
                  <a:tcPr anchor="ctr">
                    <a:solidFill>
                      <a:schemeClr val="bg2">
                        <a:lumMod val="50000"/>
                      </a:schemeClr>
                    </a:solidFill>
                  </a:tcPr>
                </a:tc>
                <a:tc>
                  <a:txBody>
                    <a:bodyPr/>
                    <a:lstStyle/>
                    <a:p>
                      <a:pPr>
                        <a:buNone/>
                      </a:pPr>
                      <a:r>
                        <a:rPr lang="en-IN" sz="1400">
                          <a:solidFill>
                            <a:schemeClr val="bg1"/>
                          </a:solidFill>
                          <a:latin typeface="Arial" panose="020B0604020202020204" pitchFamily="34" charset="0"/>
                          <a:cs typeface="Arial" panose="020B0604020202020204" pitchFamily="34" charset="0"/>
                        </a:rPr>
                        <a:t>Finding</a:t>
                      </a:r>
                    </a:p>
                  </a:txBody>
                  <a:tcPr anchor="ctr">
                    <a:solidFill>
                      <a:schemeClr val="bg2">
                        <a:lumMod val="50000"/>
                      </a:schemeClr>
                    </a:solidFill>
                  </a:tcPr>
                </a:tc>
                <a:tc>
                  <a:txBody>
                    <a:bodyPr/>
                    <a:lstStyle/>
                    <a:p>
                      <a:pPr>
                        <a:buNone/>
                      </a:pPr>
                      <a:r>
                        <a:rPr lang="en-IN" sz="1400">
                          <a:solidFill>
                            <a:schemeClr val="bg1"/>
                          </a:solidFill>
                          <a:latin typeface="Arial" panose="020B0604020202020204" pitchFamily="34" charset="0"/>
                          <a:cs typeface="Arial" panose="020B0604020202020204" pitchFamily="34" charset="0"/>
                        </a:rPr>
                        <a:t>Evidence</a:t>
                      </a:r>
                    </a:p>
                  </a:txBody>
                  <a:tcPr anchor="ctr">
                    <a:solidFill>
                      <a:schemeClr val="bg2">
                        <a:lumMod val="50000"/>
                      </a:schemeClr>
                    </a:solidFill>
                  </a:tcPr>
                </a:tc>
                <a:tc>
                  <a:txBody>
                    <a:bodyPr/>
                    <a:lstStyle/>
                    <a:p>
                      <a:pPr>
                        <a:buNone/>
                      </a:pPr>
                      <a:r>
                        <a:rPr lang="en-IN" sz="1400">
                          <a:solidFill>
                            <a:schemeClr val="bg1"/>
                          </a:solidFill>
                          <a:latin typeface="Arial" panose="020B0604020202020204" pitchFamily="34" charset="0"/>
                          <a:cs typeface="Arial" panose="020B0604020202020204" pitchFamily="34" charset="0"/>
                        </a:rPr>
                        <a:t>Risk</a:t>
                      </a:r>
                    </a:p>
                  </a:txBody>
                  <a:tcPr anchor="ctr">
                    <a:solidFill>
                      <a:schemeClr val="bg2">
                        <a:lumMod val="50000"/>
                      </a:schemeClr>
                    </a:solidFill>
                  </a:tcPr>
                </a:tc>
                <a:tc>
                  <a:txBody>
                    <a:bodyPr/>
                    <a:lstStyle/>
                    <a:p>
                      <a:pPr>
                        <a:buNone/>
                      </a:pPr>
                      <a:r>
                        <a:rPr lang="en-IN" sz="1400" dirty="0">
                          <a:solidFill>
                            <a:schemeClr val="bg1"/>
                          </a:solidFill>
                          <a:latin typeface="Arial" panose="020B0604020202020204" pitchFamily="34" charset="0"/>
                          <a:cs typeface="Arial" panose="020B0604020202020204" pitchFamily="34" charset="0"/>
                        </a:rPr>
                        <a:t>Recommendation</a:t>
                      </a:r>
                    </a:p>
                  </a:txBody>
                  <a:tcPr anchor="ctr">
                    <a:solidFill>
                      <a:schemeClr val="bg2">
                        <a:lumMod val="50000"/>
                      </a:schemeClr>
                    </a:solidFill>
                  </a:tcPr>
                </a:tc>
                <a:extLst>
                  <a:ext uri="{0D108BD9-81ED-4DB2-BD59-A6C34878D82A}">
                    <a16:rowId xmlns:a16="http://schemas.microsoft.com/office/drawing/2014/main" val="3638761421"/>
                  </a:ext>
                </a:extLst>
              </a:tr>
              <a:tr h="460479">
                <a:tc>
                  <a:txBody>
                    <a:bodyPr/>
                    <a:lstStyle/>
                    <a:p>
                      <a:pPr>
                        <a:buNone/>
                      </a:pPr>
                      <a:r>
                        <a:rPr lang="en-IN" sz="1400" dirty="0">
                          <a:latin typeface="Arial" panose="020B0604020202020204" pitchFamily="34" charset="0"/>
                          <a:cs typeface="Arial" panose="020B0604020202020204" pitchFamily="34" charset="0"/>
                        </a:rPr>
                        <a:t>F-01</a:t>
                      </a:r>
                    </a:p>
                  </a:txBody>
                  <a:tcPr anchor="ctr"/>
                </a:tc>
                <a:tc>
                  <a:txBody>
                    <a:bodyPr/>
                    <a:lstStyle/>
                    <a:p>
                      <a:pPr>
                        <a:buNone/>
                      </a:pPr>
                      <a:r>
                        <a:rPr lang="en-IN" sz="1400" dirty="0">
                          <a:latin typeface="Arial" panose="020B0604020202020204" pitchFamily="34" charset="0"/>
                          <a:cs typeface="Arial" panose="020B0604020202020204" pitchFamily="34" charset="0"/>
                        </a:rPr>
                        <a:t>Nmap</a:t>
                      </a:r>
                    </a:p>
                  </a:txBody>
                  <a:tcPr anchor="ctr"/>
                </a:tc>
                <a:tc>
                  <a:txBody>
                    <a:bodyPr/>
                    <a:lstStyle/>
                    <a:p>
                      <a:pPr>
                        <a:buNone/>
                      </a:pPr>
                      <a:r>
                        <a:rPr lang="en-IN" sz="1400">
                          <a:latin typeface="Arial" panose="020B0604020202020204" pitchFamily="34" charset="0"/>
                          <a:cs typeface="Arial" panose="020B0604020202020204" pitchFamily="34" charset="0"/>
                        </a:rPr>
                        <a:t>Open web service</a:t>
                      </a:r>
                    </a:p>
                  </a:txBody>
                  <a:tcPr anchor="ctr"/>
                </a:tc>
                <a:tc>
                  <a:txBody>
                    <a:bodyPr/>
                    <a:lstStyle/>
                    <a:p>
                      <a:pPr>
                        <a:buNone/>
                      </a:pPr>
                      <a:r>
                        <a:rPr lang="en-IN" sz="1400">
                          <a:latin typeface="Arial" panose="020B0604020202020204" pitchFamily="34" charset="0"/>
                          <a:cs typeface="Arial" panose="020B0604020202020204" pitchFamily="34" charset="0"/>
                        </a:rPr>
                        <a:t>Port 80</a:t>
                      </a:r>
                    </a:p>
                  </a:txBody>
                  <a:tcPr anchor="ctr"/>
                </a:tc>
                <a:tc>
                  <a:txBody>
                    <a:bodyPr/>
                    <a:lstStyle/>
                    <a:p>
                      <a:pPr>
                        <a:buNone/>
                      </a:pPr>
                      <a:r>
                        <a:rPr lang="en-IN" sz="1400">
                          <a:latin typeface="Arial" panose="020B0604020202020204" pitchFamily="34" charset="0"/>
                          <a:cs typeface="Arial" panose="020B0604020202020204" pitchFamily="34" charset="0"/>
                        </a:rPr>
                        <a:t>Medium</a:t>
                      </a:r>
                    </a:p>
                  </a:txBody>
                  <a:tcPr anchor="ctr"/>
                </a:tc>
                <a:tc>
                  <a:txBody>
                    <a:bodyPr/>
                    <a:lstStyle/>
                    <a:p>
                      <a:pPr>
                        <a:buNone/>
                      </a:pPr>
                      <a:r>
                        <a:rPr lang="en-IN" sz="1400" dirty="0">
                          <a:latin typeface="Arial" panose="020B0604020202020204" pitchFamily="34" charset="0"/>
                          <a:cs typeface="Arial" panose="020B0604020202020204" pitchFamily="34" charset="0"/>
                        </a:rPr>
                        <a:t>Restrict and secure unnecessary services</a:t>
                      </a:r>
                    </a:p>
                  </a:txBody>
                  <a:tcPr anchor="ctr"/>
                </a:tc>
                <a:extLst>
                  <a:ext uri="{0D108BD9-81ED-4DB2-BD59-A6C34878D82A}">
                    <a16:rowId xmlns:a16="http://schemas.microsoft.com/office/drawing/2014/main" val="1316804659"/>
                  </a:ext>
                </a:extLst>
              </a:tr>
              <a:tr h="460479">
                <a:tc>
                  <a:txBody>
                    <a:bodyPr/>
                    <a:lstStyle/>
                    <a:p>
                      <a:pPr>
                        <a:buNone/>
                      </a:pPr>
                      <a:r>
                        <a:rPr lang="en-IN" sz="1400" dirty="0">
                          <a:latin typeface="Arial" panose="020B0604020202020204" pitchFamily="34" charset="0"/>
                          <a:cs typeface="Arial" panose="020B0604020202020204" pitchFamily="34" charset="0"/>
                        </a:rPr>
                        <a:t>F-02</a:t>
                      </a:r>
                    </a:p>
                  </a:txBody>
                  <a:tcPr anchor="ctr"/>
                </a:tc>
                <a:tc>
                  <a:txBody>
                    <a:bodyPr/>
                    <a:lstStyle/>
                    <a:p>
                      <a:pPr>
                        <a:buNone/>
                      </a:pPr>
                      <a:r>
                        <a:rPr lang="en-IN" sz="1400" dirty="0">
                          <a:latin typeface="Arial" panose="020B0604020202020204" pitchFamily="34" charset="0"/>
                          <a:cs typeface="Arial" panose="020B0604020202020204" pitchFamily="34" charset="0"/>
                        </a:rPr>
                        <a:t>Nikto</a:t>
                      </a:r>
                    </a:p>
                  </a:txBody>
                  <a:tcPr anchor="ctr"/>
                </a:tc>
                <a:tc>
                  <a:txBody>
                    <a:bodyPr/>
                    <a:lstStyle/>
                    <a:p>
                      <a:pPr>
                        <a:buNone/>
                      </a:pPr>
                      <a:r>
                        <a:rPr lang="en-IN" sz="1400" dirty="0">
                          <a:latin typeface="Arial" panose="020B0604020202020204" pitchFamily="34" charset="0"/>
                          <a:cs typeface="Arial" panose="020B0604020202020204" pitchFamily="34" charset="0"/>
                        </a:rPr>
                        <a:t>Actual Nikto finding</a:t>
                      </a:r>
                    </a:p>
                  </a:txBody>
                  <a:tcPr anchor="ctr"/>
                </a:tc>
                <a:tc>
                  <a:txBody>
                    <a:bodyPr/>
                    <a:lstStyle/>
                    <a:p>
                      <a:pPr>
                        <a:buNone/>
                      </a:pPr>
                      <a:r>
                        <a:rPr lang="en-IN" sz="1400" dirty="0">
                          <a:latin typeface="Arial" panose="020B0604020202020204" pitchFamily="34" charset="0"/>
                          <a:cs typeface="Arial" panose="020B0604020202020204" pitchFamily="34" charset="0"/>
                        </a:rPr>
                        <a:t>Nikto output</a:t>
                      </a:r>
                    </a:p>
                  </a:txBody>
                  <a:tcPr anchor="ctr"/>
                </a:tc>
                <a:tc>
                  <a:txBody>
                    <a:bodyPr/>
                    <a:lstStyle/>
                    <a:p>
                      <a:pPr>
                        <a:buNone/>
                      </a:pPr>
                      <a:r>
                        <a:rPr lang="en-IN" sz="1400">
                          <a:latin typeface="Arial" panose="020B0604020202020204" pitchFamily="34" charset="0"/>
                          <a:cs typeface="Arial" panose="020B0604020202020204" pitchFamily="34" charset="0"/>
                        </a:rPr>
                        <a:t>Based on finding</a:t>
                      </a:r>
                    </a:p>
                  </a:txBody>
                  <a:tcPr anchor="ctr"/>
                </a:tc>
                <a:tc>
                  <a:txBody>
                    <a:bodyPr/>
                    <a:lstStyle/>
                    <a:p>
                      <a:pPr>
                        <a:buNone/>
                      </a:pPr>
                      <a:r>
                        <a:rPr lang="en-IN" sz="1400">
                          <a:latin typeface="Arial" panose="020B0604020202020204" pitchFamily="34" charset="0"/>
                          <a:cs typeface="Arial" panose="020B0604020202020204" pitchFamily="34" charset="0"/>
                        </a:rPr>
                        <a:t>Apply appropriate configuration fix</a:t>
                      </a:r>
                    </a:p>
                  </a:txBody>
                  <a:tcPr anchor="ctr"/>
                </a:tc>
                <a:extLst>
                  <a:ext uri="{0D108BD9-81ED-4DB2-BD59-A6C34878D82A}">
                    <a16:rowId xmlns:a16="http://schemas.microsoft.com/office/drawing/2014/main" val="1168773750"/>
                  </a:ext>
                </a:extLst>
              </a:tr>
              <a:tr h="839697">
                <a:tc>
                  <a:txBody>
                    <a:bodyPr/>
                    <a:lstStyle/>
                    <a:p>
                      <a:pPr>
                        <a:buNone/>
                      </a:pPr>
                      <a:r>
                        <a:rPr lang="en-IN" sz="1400">
                          <a:latin typeface="Arial" panose="020B0604020202020204" pitchFamily="34" charset="0"/>
                          <a:cs typeface="Arial" panose="020B0604020202020204" pitchFamily="34" charset="0"/>
                        </a:rPr>
                        <a:t>F-03</a:t>
                      </a:r>
                    </a:p>
                  </a:txBody>
                  <a:tcPr anchor="ctr"/>
                </a:tc>
                <a:tc>
                  <a:txBody>
                    <a:bodyPr/>
                    <a:lstStyle/>
                    <a:p>
                      <a:pPr>
                        <a:buNone/>
                      </a:pPr>
                      <a:r>
                        <a:rPr lang="en-IN" sz="1400">
                          <a:latin typeface="Arial" panose="020B0604020202020204" pitchFamily="34" charset="0"/>
                          <a:cs typeface="Arial" panose="020B0604020202020204" pitchFamily="34" charset="0"/>
                        </a:rPr>
                        <a:t>Burp</a:t>
                      </a:r>
                    </a:p>
                  </a:txBody>
                  <a:tcPr anchor="ctr"/>
                </a:tc>
                <a:tc>
                  <a:txBody>
                    <a:bodyPr/>
                    <a:lstStyle/>
                    <a:p>
                      <a:pPr>
                        <a:buNone/>
                      </a:pPr>
                      <a:r>
                        <a:rPr lang="en-IN" sz="1400" dirty="0">
                          <a:latin typeface="Arial" panose="020B0604020202020204" pitchFamily="34" charset="0"/>
                          <a:cs typeface="Arial" panose="020B0604020202020204" pitchFamily="34" charset="0"/>
                        </a:rPr>
                        <a:t>HTTP/request security observation</a:t>
                      </a:r>
                    </a:p>
                  </a:txBody>
                  <a:tcPr anchor="ctr"/>
                </a:tc>
                <a:tc>
                  <a:txBody>
                    <a:bodyPr/>
                    <a:lstStyle/>
                    <a:p>
                      <a:pPr>
                        <a:buNone/>
                      </a:pPr>
                      <a:r>
                        <a:rPr lang="en-IN" sz="1400">
                          <a:latin typeface="Arial" panose="020B0604020202020204" pitchFamily="34" charset="0"/>
                          <a:cs typeface="Arial" panose="020B0604020202020204" pitchFamily="34" charset="0"/>
                        </a:rPr>
                        <a:t>Captured request</a:t>
                      </a:r>
                    </a:p>
                  </a:txBody>
                  <a:tcPr anchor="ctr"/>
                </a:tc>
                <a:tc>
                  <a:txBody>
                    <a:bodyPr/>
                    <a:lstStyle/>
                    <a:p>
                      <a:pPr>
                        <a:buNone/>
                      </a:pPr>
                      <a:r>
                        <a:rPr lang="en-IN" sz="1400">
                          <a:latin typeface="Arial" panose="020B0604020202020204" pitchFamily="34" charset="0"/>
                          <a:cs typeface="Arial" panose="020B0604020202020204" pitchFamily="34" charset="0"/>
                        </a:rPr>
                        <a:t>Based on observation</a:t>
                      </a:r>
                    </a:p>
                  </a:txBody>
                  <a:tcPr anchor="ctr"/>
                </a:tc>
                <a:tc>
                  <a:txBody>
                    <a:bodyPr/>
                    <a:lstStyle/>
                    <a:p>
                      <a:pPr>
                        <a:buNone/>
                      </a:pPr>
                      <a:r>
                        <a:rPr lang="en-IN" sz="1400" dirty="0">
                          <a:latin typeface="Arial" panose="020B0604020202020204" pitchFamily="34" charset="0"/>
                          <a:cs typeface="Arial" panose="020B0604020202020204" pitchFamily="34" charset="0"/>
                        </a:rPr>
                        <a:t>Use secure configuration and HTTPS where applicable</a:t>
                      </a:r>
                    </a:p>
                  </a:txBody>
                  <a:tcPr anchor="ctr"/>
                </a:tc>
                <a:extLst>
                  <a:ext uri="{0D108BD9-81ED-4DB2-BD59-A6C34878D82A}">
                    <a16:rowId xmlns:a16="http://schemas.microsoft.com/office/drawing/2014/main" val="2836165524"/>
                  </a:ext>
                </a:extLst>
              </a:tr>
            </a:tbl>
          </a:graphicData>
        </a:graphic>
      </p:graphicFrame>
      <p:sp>
        <p:nvSpPr>
          <p:cNvPr id="6" name="TextBox 5">
            <a:extLst>
              <a:ext uri="{FF2B5EF4-FFF2-40B4-BE49-F238E27FC236}">
                <a16:creationId xmlns:a16="http://schemas.microsoft.com/office/drawing/2014/main" id="{120D6EF7-0A62-6C51-4B74-247E2F2805C2}"/>
              </a:ext>
            </a:extLst>
          </p:cNvPr>
          <p:cNvSpPr txBox="1"/>
          <p:nvPr/>
        </p:nvSpPr>
        <p:spPr>
          <a:xfrm>
            <a:off x="1676400" y="2341046"/>
            <a:ext cx="7924800" cy="830997"/>
          </a:xfrm>
          <a:prstGeom prst="rect">
            <a:avLst/>
          </a:prstGeom>
          <a:noFill/>
        </p:spPr>
        <p:txBody>
          <a:bodyPr wrap="square">
            <a:spAutoFit/>
          </a:bodyPr>
          <a:lstStyle/>
          <a:p>
            <a:pPr>
              <a:buNone/>
            </a:pPr>
            <a:r>
              <a:rPr lang="en-IN" sz="1600" b="1" dirty="0">
                <a:solidFill>
                  <a:schemeClr val="bg1"/>
                </a:solidFill>
                <a:latin typeface="Arial" panose="020B0604020202020204" pitchFamily="34" charset="0"/>
                <a:cs typeface="Arial" panose="020B0604020202020204" pitchFamily="34" charset="0"/>
              </a:rPr>
              <a:t>Create a Findings Table</a:t>
            </a:r>
          </a:p>
          <a:p>
            <a:pPr>
              <a:buNone/>
            </a:pPr>
            <a:r>
              <a:rPr lang="en-IN" sz="1600" dirty="0">
                <a:solidFill>
                  <a:schemeClr val="bg1"/>
                </a:solidFill>
                <a:latin typeface="Arial" panose="020B0604020202020204" pitchFamily="34" charset="0"/>
                <a:cs typeface="Arial" panose="020B0604020202020204" pitchFamily="34" charset="0"/>
              </a:rPr>
              <a:t>Your report can contain this:</a:t>
            </a:r>
          </a:p>
          <a:p>
            <a:pPr>
              <a:buNone/>
            </a:pPr>
            <a:r>
              <a:rPr lang="en-IN" sz="1600" b="1" dirty="0">
                <a:solidFill>
                  <a:schemeClr val="bg1"/>
                </a:solidFill>
                <a:latin typeface="Arial" panose="020B0604020202020204" pitchFamily="34" charset="0"/>
                <a:cs typeface="Arial" panose="020B0604020202020204" pitchFamily="34" charset="0"/>
              </a:rPr>
              <a:t>Important:</a:t>
            </a:r>
            <a:r>
              <a:rPr lang="en-IN" sz="1600" dirty="0">
                <a:solidFill>
                  <a:schemeClr val="bg1"/>
                </a:solidFill>
                <a:latin typeface="Arial" panose="020B0604020202020204" pitchFamily="34" charset="0"/>
                <a:cs typeface="Arial" panose="020B0604020202020204" pitchFamily="34" charset="0"/>
              </a:rPr>
              <a:t> Change the table according to your real scan results.</a:t>
            </a:r>
          </a:p>
        </p:txBody>
      </p:sp>
      <p:sp>
        <p:nvSpPr>
          <p:cNvPr id="8" name="TextBox 7">
            <a:extLst>
              <a:ext uri="{FF2B5EF4-FFF2-40B4-BE49-F238E27FC236}">
                <a16:creationId xmlns:a16="http://schemas.microsoft.com/office/drawing/2014/main" id="{0BD1C532-D435-B256-83FA-3229EBE98F4A}"/>
              </a:ext>
            </a:extLst>
          </p:cNvPr>
          <p:cNvSpPr txBox="1"/>
          <p:nvPr/>
        </p:nvSpPr>
        <p:spPr>
          <a:xfrm>
            <a:off x="1676400" y="765016"/>
            <a:ext cx="6096000" cy="1077218"/>
          </a:xfrm>
          <a:prstGeom prst="rect">
            <a:avLst/>
          </a:prstGeom>
          <a:noFill/>
        </p:spPr>
        <p:txBody>
          <a:bodyPr wrap="square">
            <a:spAutoFit/>
          </a:bodyPr>
          <a:lstStyle/>
          <a:p>
            <a:pPr>
              <a:buNone/>
            </a:pPr>
            <a:r>
              <a:rPr lang="en-IN" sz="1600" b="1" dirty="0">
                <a:solidFill>
                  <a:schemeClr val="bg1"/>
                </a:solidFill>
                <a:latin typeface="Arial" panose="020B0604020202020204" pitchFamily="34" charset="0"/>
                <a:cs typeface="Arial" panose="020B0604020202020204" pitchFamily="34" charset="0"/>
              </a:rPr>
              <a:t>Find at Least 3 Issues</a:t>
            </a:r>
          </a:p>
          <a:p>
            <a:pPr>
              <a:buNone/>
            </a:pPr>
            <a:r>
              <a:rPr lang="en-IN" sz="1600" dirty="0">
                <a:solidFill>
                  <a:schemeClr val="bg1"/>
                </a:solidFill>
                <a:latin typeface="Arial" panose="020B0604020202020204" pitchFamily="34" charset="0"/>
                <a:cs typeface="Arial" panose="020B0604020202020204" pitchFamily="34" charset="0"/>
              </a:rPr>
              <a:t>This is the most important part of your mini-project.</a:t>
            </a:r>
          </a:p>
          <a:p>
            <a:pPr>
              <a:buNone/>
            </a:pPr>
            <a:r>
              <a:rPr lang="en-IN" sz="1600" dirty="0">
                <a:solidFill>
                  <a:schemeClr val="bg1"/>
                </a:solidFill>
                <a:latin typeface="Arial" panose="020B0604020202020204" pitchFamily="34" charset="0"/>
                <a:cs typeface="Arial" panose="020B0604020202020204" pitchFamily="34" charset="0"/>
              </a:rPr>
              <a:t>You should combine information from:</a:t>
            </a:r>
          </a:p>
          <a:p>
            <a:pPr marL="285750" indent="-285750">
              <a:buFont typeface="Arial" panose="020B0604020202020204" pitchFamily="34" charset="0"/>
              <a:buChar char="•"/>
            </a:pPr>
            <a:r>
              <a:rPr lang="en-IN" sz="1600" b="1" dirty="0">
                <a:solidFill>
                  <a:schemeClr val="bg1"/>
                </a:solidFill>
                <a:latin typeface="Arial" panose="020B0604020202020204" pitchFamily="34" charset="0"/>
                <a:cs typeface="Arial" panose="020B0604020202020204" pitchFamily="34" charset="0"/>
              </a:rPr>
              <a:t>Nmap + Nikto + Burp Suite</a:t>
            </a:r>
            <a:endParaRPr lang="en-IN" sz="16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4712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8CA1ADC-3C69-7376-DD73-91ADFB731FF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C0FA8BA-7ED2-74A7-1778-74ADC97FB88A}"/>
              </a:ext>
            </a:extLst>
          </p:cNvPr>
          <p:cNvSpPr txBox="1"/>
          <p:nvPr/>
        </p:nvSpPr>
        <p:spPr>
          <a:xfrm>
            <a:off x="1104900" y="593289"/>
            <a:ext cx="4086225" cy="2031325"/>
          </a:xfrm>
          <a:prstGeom prst="rect">
            <a:avLst/>
          </a:prstGeom>
          <a:noFill/>
        </p:spPr>
        <p:txBody>
          <a:bodyPr wrap="square">
            <a:spAutoFit/>
          </a:bodyPr>
          <a:lstStyle/>
          <a:p>
            <a:pPr>
              <a:buNone/>
            </a:pPr>
            <a:r>
              <a:rPr lang="en-IN" sz="1400" b="1" dirty="0">
                <a:solidFill>
                  <a:schemeClr val="bg1"/>
                </a:solidFill>
                <a:latin typeface="Arial" panose="020B0604020202020204" pitchFamily="34" charset="0"/>
                <a:cs typeface="Arial" panose="020B0604020202020204" pitchFamily="34" charset="0"/>
              </a:rPr>
              <a:t>Recommendations</a:t>
            </a:r>
          </a:p>
          <a:p>
            <a:pPr>
              <a:buNone/>
            </a:pPr>
            <a:r>
              <a:rPr lang="en-IN" sz="1400" dirty="0">
                <a:solidFill>
                  <a:schemeClr val="bg1"/>
                </a:solidFill>
                <a:latin typeface="Arial" panose="020B0604020202020204" pitchFamily="34" charset="0"/>
                <a:cs typeface="Arial" panose="020B0604020202020204" pitchFamily="34" charset="0"/>
              </a:rPr>
              <a:t>Examples:</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Remove unnecessary services. </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Keep software updated. </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Configure web-server security properly. </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Use HTTPS for web communication. </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Apply appropriate HTTP security headers. </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Monitor web-server logs. </a:t>
            </a:r>
          </a:p>
          <a:p>
            <a:pPr marL="342900" lvl="0" indent="-342900">
              <a:buFont typeface="+mj-lt"/>
              <a:buAutoNum type="arabicPeriod"/>
            </a:pPr>
            <a:r>
              <a:rPr lang="en-IN" sz="1400" dirty="0">
                <a:solidFill>
                  <a:schemeClr val="bg1"/>
                </a:solidFill>
                <a:latin typeface="Arial" panose="020B0604020202020204" pitchFamily="34" charset="0"/>
                <a:cs typeface="Arial" panose="020B0604020202020204" pitchFamily="34" charset="0"/>
              </a:rPr>
              <a:t>Follow least-privilege principles.</a:t>
            </a:r>
          </a:p>
        </p:txBody>
      </p:sp>
      <p:sp>
        <p:nvSpPr>
          <p:cNvPr id="7" name="TextBox 6">
            <a:extLst>
              <a:ext uri="{FF2B5EF4-FFF2-40B4-BE49-F238E27FC236}">
                <a16:creationId xmlns:a16="http://schemas.microsoft.com/office/drawing/2014/main" id="{D661486C-DFEB-851A-C239-8F6097DF47E6}"/>
              </a:ext>
            </a:extLst>
          </p:cNvPr>
          <p:cNvSpPr txBox="1"/>
          <p:nvPr/>
        </p:nvSpPr>
        <p:spPr>
          <a:xfrm>
            <a:off x="6877050" y="593289"/>
            <a:ext cx="3171825" cy="2031325"/>
          </a:xfrm>
          <a:prstGeom prst="rect">
            <a:avLst/>
          </a:prstGeom>
          <a:noFill/>
        </p:spPr>
        <p:txBody>
          <a:bodyPr wrap="square">
            <a:spAutoFit/>
          </a:bodyPr>
          <a:lstStyle/>
          <a:p>
            <a:pPr>
              <a:buNone/>
            </a:pPr>
            <a:r>
              <a:rPr lang="en-IN" sz="1400" b="1" dirty="0">
                <a:solidFill>
                  <a:schemeClr val="bg1"/>
                </a:solidFill>
                <a:latin typeface="Arial" panose="020B0604020202020204" pitchFamily="34" charset="0"/>
                <a:cs typeface="Arial" panose="020B0604020202020204" pitchFamily="34" charset="0"/>
              </a:rPr>
              <a:t>Learning / Challenges</a:t>
            </a:r>
          </a:p>
          <a:p>
            <a:pPr>
              <a:buNone/>
            </a:pPr>
            <a:r>
              <a:rPr lang="en-IN" sz="1400" dirty="0">
                <a:solidFill>
                  <a:schemeClr val="bg1"/>
                </a:solidFill>
                <a:latin typeface="Arial" panose="020B0604020202020204" pitchFamily="34" charset="0"/>
                <a:cs typeface="Arial" panose="020B0604020202020204" pitchFamily="34" charset="0"/>
              </a:rPr>
              <a:t>Write what you learned:</a:t>
            </a:r>
          </a:p>
          <a:p>
            <a:pPr marL="342900" lvl="0" indent="-342900">
              <a:buFont typeface="Arial" panose="020B0604020202020204" pitchFamily="34" charset="0"/>
              <a:buChar char="•"/>
            </a:pPr>
            <a:r>
              <a:rPr lang="en-IN" sz="1400" dirty="0">
                <a:solidFill>
                  <a:schemeClr val="bg1"/>
                </a:solidFill>
                <a:latin typeface="Arial" panose="020B0604020202020204" pitchFamily="34" charset="0"/>
                <a:cs typeface="Arial" panose="020B0604020202020204" pitchFamily="34" charset="0"/>
              </a:rPr>
              <a:t>Basic network scanning </a:t>
            </a:r>
          </a:p>
          <a:p>
            <a:pPr marL="342900" lvl="0" indent="-342900">
              <a:buFont typeface="Arial" panose="020B0604020202020204" pitchFamily="34" charset="0"/>
              <a:buChar char="•"/>
            </a:pPr>
            <a:r>
              <a:rPr lang="en-IN" sz="1400" dirty="0">
                <a:solidFill>
                  <a:schemeClr val="bg1"/>
                </a:solidFill>
                <a:latin typeface="Arial" panose="020B0604020202020204" pitchFamily="34" charset="0"/>
                <a:cs typeface="Arial" panose="020B0604020202020204" pitchFamily="34" charset="0"/>
              </a:rPr>
              <a:t>Service enumeration </a:t>
            </a:r>
          </a:p>
          <a:p>
            <a:pPr marL="342900" lvl="0" indent="-342900">
              <a:buFont typeface="Arial" panose="020B0604020202020204" pitchFamily="34" charset="0"/>
              <a:buChar char="•"/>
            </a:pPr>
            <a:r>
              <a:rPr lang="en-IN" sz="1400" dirty="0">
                <a:solidFill>
                  <a:schemeClr val="bg1"/>
                </a:solidFill>
                <a:latin typeface="Arial" panose="020B0604020202020204" pitchFamily="34" charset="0"/>
                <a:cs typeface="Arial" panose="020B0604020202020204" pitchFamily="34" charset="0"/>
              </a:rPr>
              <a:t>Web vulnerability scanning </a:t>
            </a:r>
          </a:p>
          <a:p>
            <a:pPr marL="342900" lvl="0" indent="-342900">
              <a:buFont typeface="Arial" panose="020B0604020202020204" pitchFamily="34" charset="0"/>
              <a:buChar char="•"/>
            </a:pPr>
            <a:r>
              <a:rPr lang="en-IN" sz="1400" dirty="0">
                <a:solidFill>
                  <a:schemeClr val="bg1"/>
                </a:solidFill>
                <a:latin typeface="Arial" panose="020B0604020202020204" pitchFamily="34" charset="0"/>
                <a:cs typeface="Arial" panose="020B0604020202020204" pitchFamily="34" charset="0"/>
              </a:rPr>
              <a:t>HTTP request analysis </a:t>
            </a:r>
          </a:p>
          <a:p>
            <a:pPr marL="342900" lvl="0" indent="-342900">
              <a:buFont typeface="Arial" panose="020B0604020202020204" pitchFamily="34" charset="0"/>
              <a:buChar char="•"/>
            </a:pPr>
            <a:r>
              <a:rPr lang="en-IN" sz="1400" dirty="0">
                <a:solidFill>
                  <a:schemeClr val="bg1"/>
                </a:solidFill>
                <a:latin typeface="Arial" panose="020B0604020202020204" pitchFamily="34" charset="0"/>
                <a:cs typeface="Arial" panose="020B0604020202020204" pitchFamily="34" charset="0"/>
              </a:rPr>
              <a:t>Headers and cookies </a:t>
            </a:r>
          </a:p>
          <a:p>
            <a:pPr marL="342900" lvl="0" indent="-342900">
              <a:buFont typeface="Arial" panose="020B0604020202020204" pitchFamily="34" charset="0"/>
              <a:buChar char="•"/>
            </a:pPr>
            <a:r>
              <a:rPr lang="en-IN" sz="1400" dirty="0">
                <a:solidFill>
                  <a:schemeClr val="bg1"/>
                </a:solidFill>
                <a:latin typeface="Arial" panose="020B0604020202020204" pitchFamily="34" charset="0"/>
                <a:cs typeface="Arial" panose="020B0604020202020204" pitchFamily="34" charset="0"/>
              </a:rPr>
              <a:t>Security findings </a:t>
            </a:r>
          </a:p>
          <a:p>
            <a:pPr marL="342900" lvl="0" indent="-342900">
              <a:buFont typeface="Arial" panose="020B0604020202020204" pitchFamily="34" charset="0"/>
              <a:buChar char="•"/>
            </a:pPr>
            <a:r>
              <a:rPr lang="en-IN" sz="1400" dirty="0">
                <a:solidFill>
                  <a:schemeClr val="bg1"/>
                </a:solidFill>
                <a:latin typeface="Arial" panose="020B0604020202020204" pitchFamily="34" charset="0"/>
                <a:cs typeface="Arial" panose="020B0604020202020204" pitchFamily="34" charset="0"/>
              </a:rPr>
              <a:t>Report preparation</a:t>
            </a:r>
          </a:p>
        </p:txBody>
      </p:sp>
      <p:sp>
        <p:nvSpPr>
          <p:cNvPr id="9" name="TextBox 8">
            <a:extLst>
              <a:ext uri="{FF2B5EF4-FFF2-40B4-BE49-F238E27FC236}">
                <a16:creationId xmlns:a16="http://schemas.microsoft.com/office/drawing/2014/main" id="{732FFA03-29A2-E1B6-EA19-940FB9226C45}"/>
              </a:ext>
            </a:extLst>
          </p:cNvPr>
          <p:cNvSpPr txBox="1"/>
          <p:nvPr/>
        </p:nvSpPr>
        <p:spPr>
          <a:xfrm>
            <a:off x="1104900" y="3244840"/>
            <a:ext cx="9163050" cy="1815882"/>
          </a:xfrm>
          <a:prstGeom prst="rect">
            <a:avLst/>
          </a:prstGeom>
          <a:noFill/>
        </p:spPr>
        <p:txBody>
          <a:bodyPr wrap="square">
            <a:spAutoFit/>
          </a:bodyPr>
          <a:lstStyle/>
          <a:p>
            <a:pPr>
              <a:buNone/>
            </a:pPr>
            <a:r>
              <a:rPr lang="en-IN" sz="1400" b="1" dirty="0">
                <a:solidFill>
                  <a:schemeClr val="bg1"/>
                </a:solidFill>
                <a:latin typeface="Arial" panose="020B0604020202020204" pitchFamily="34" charset="0"/>
                <a:cs typeface="Arial" panose="020B0604020202020204" pitchFamily="34" charset="0"/>
              </a:rPr>
              <a:t>Conclusion</a:t>
            </a:r>
          </a:p>
          <a:p>
            <a:pPr>
              <a:buNone/>
            </a:pPr>
            <a:r>
              <a:rPr lang="en-IN" sz="1400" dirty="0">
                <a:solidFill>
                  <a:schemeClr val="bg1"/>
                </a:solidFill>
                <a:latin typeface="Arial" panose="020B0604020202020204" pitchFamily="34" charset="0"/>
                <a:cs typeface="Arial" panose="020B0604020202020204" pitchFamily="34" charset="0"/>
              </a:rPr>
              <a:t>Example:</a:t>
            </a:r>
          </a:p>
          <a:p>
            <a:pPr>
              <a:buNone/>
            </a:pPr>
            <a:r>
              <a:rPr lang="en-IN" sz="1400" dirty="0">
                <a:solidFill>
                  <a:schemeClr val="bg1"/>
                </a:solidFill>
                <a:latin typeface="Arial" panose="020B0604020202020204" pitchFamily="34" charset="0"/>
                <a:cs typeface="Arial" panose="020B0604020202020204" pitchFamily="34" charset="0"/>
              </a:rPr>
              <a:t>This practical helped me understand the basic workflow of Vulnerability Assessment and Penetration Testing. I used Nmap to identify available services, Nikto to inspect the web server for security-related findings, and Burp Suite to understand HTTP requests and responses. I learned that scanning results should be </a:t>
            </a:r>
            <a:r>
              <a:rPr lang="en-IN" sz="1400" dirty="0" err="1">
                <a:solidFill>
                  <a:schemeClr val="bg1"/>
                </a:solidFill>
                <a:latin typeface="Arial" panose="020B0604020202020204" pitchFamily="34" charset="0"/>
                <a:cs typeface="Arial" panose="020B0604020202020204" pitchFamily="34" charset="0"/>
              </a:rPr>
              <a:t>analyzed</a:t>
            </a:r>
            <a:r>
              <a:rPr lang="en-IN" sz="1400" dirty="0">
                <a:solidFill>
                  <a:schemeClr val="bg1"/>
                </a:solidFill>
                <a:latin typeface="Arial" panose="020B0604020202020204" pitchFamily="34" charset="0"/>
                <a:cs typeface="Arial" panose="020B0604020202020204" pitchFamily="34" charset="0"/>
              </a:rPr>
              <a:t> carefully instead of simply copying tool output. The practical also improved my understanding of attack surface, web security, and security recommendations. All testing was performed only against the authorized training environment.</a:t>
            </a:r>
          </a:p>
        </p:txBody>
      </p:sp>
    </p:spTree>
    <p:extLst>
      <p:ext uri="{BB962C8B-B14F-4D97-AF65-F5344CB8AC3E}">
        <p14:creationId xmlns:p14="http://schemas.microsoft.com/office/powerpoint/2010/main" val="532384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C6D30B6-50CF-E632-708D-B09828C5BA3D}"/>
            </a:ext>
          </a:extLst>
        </p:cNvPr>
        <p:cNvGrpSpPr/>
        <p:nvPr/>
      </p:nvGrpSpPr>
      <p:grpSpPr>
        <a:xfrm>
          <a:off x="0" y="0"/>
          <a:ext cx="0" cy="0"/>
          <a:chOff x="0" y="0"/>
          <a:chExt cx="0" cy="0"/>
        </a:xfrm>
      </p:grpSpPr>
    </p:spTree>
    <p:extLst>
      <p:ext uri="{BB962C8B-B14F-4D97-AF65-F5344CB8AC3E}">
        <p14:creationId xmlns:p14="http://schemas.microsoft.com/office/powerpoint/2010/main" val="1605302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913</Words>
  <Application>Microsoft Office PowerPoint</Application>
  <PresentationFormat>Widescreen</PresentationFormat>
  <Paragraphs>154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Student Name: -Kumbhar Dilip  College Name: - Indus University  Internship  :- Cyber Security Internship Organization :- DG Intern Hub Week 5 Assignment: - VAPT Tools – Practical Learning SID: - dg/september/cyber/264  Mail: - dilipkumbhar.dginternshub@gmail.com  Task 5: - Theory + Practical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kumbhar dilip</dc:creator>
  <cp:lastModifiedBy>kumbhar dilip</cp:lastModifiedBy>
  <cp:revision>4</cp:revision>
  <dcterms:created xsi:type="dcterms:W3CDTF">2026-10-05T13:03:32Z</dcterms:created>
  <dcterms:modified xsi:type="dcterms:W3CDTF">2026-10-05T15:44:39Z</dcterms:modified>
</cp:coreProperties>
</file>